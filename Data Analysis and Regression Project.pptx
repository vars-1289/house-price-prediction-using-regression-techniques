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Nuni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BF8EC8-797D-4E52-B60B-AC1173024FDA}">
  <a:tblStyle styleId="{8CBF8EC8-797D-4E52-B60B-AC1173024FD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regular.fntdata"/><Relationship Id="rId47" Type="http://schemas.openxmlformats.org/officeDocument/2006/relationships/slide" Target="slides/slide41.xml"/><Relationship Id="rId49"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oldItalic.fntdata"/><Relationship Id="rId50" Type="http://schemas.openxmlformats.org/officeDocument/2006/relationships/font" Target="fonts/Nuni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574f1f4ca_1_2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1574f1f4ca_1_2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1574f1f4ca_1_2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1574f1f4ca_1_2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22bb50b6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22bb50b68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574f1f4ca_1_2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574f1f4ca_1_2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574f1f4ca_1_2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1574f1f4ca_1_2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1133927fa5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1133927fa5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133927f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1133927f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1574f1f4ca_1_2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1574f1f4ca_1_2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55b7adc6f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155b7adc6f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574f1f4ca_1_2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574f1f4ca_1_2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133927fa5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133927fa5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22bb50b6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22bb50b6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22bb50b6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122bb50b6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22bb50b6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122bb50b6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22bb50b6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122bb50b6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22bb50b6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22bb50b6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122bb50b6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122bb50b6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122bb50b6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122bb50b6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122bb50b6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122bb50b6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1574f1f4ca_1_2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1574f1f4ca_1_2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2824b04e1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12824b04e1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574f1f4ca_1_2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1574f1f4ca_1_2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122bb50b6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122bb50b6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122bb50b6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122bb50b6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122bb50b68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122bb50b68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122bb50b6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122bb50b6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574f1f4ca_1_2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1574f1f4ca_1_2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1574f1f4ca_1_2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1574f1f4ca_1_2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1574f1f4ca_1_2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1574f1f4ca_1_2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22bb50b6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122bb50b6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122bb50b68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122bb50b68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1574f1f4ca_1_2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1574f1f4ca_1_2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122bb50b6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122bb50b6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122bb50b6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122bb50b6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122bb50b6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122bb50b6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122bb50b6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122bb50b6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122bb50b6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122bb50b6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122bb50b6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122bb50b6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122bb50b6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122bb50b6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1574f1f4ca_1_2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1574f1f4ca_1_2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code/darshandungrani/house-price-prediction-with-ridge-regress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492175" y="783125"/>
            <a:ext cx="7744500" cy="1155000"/>
          </a:xfrm>
          <a:prstGeom prst="rect">
            <a:avLst/>
          </a:prstGeom>
        </p:spPr>
        <p:txBody>
          <a:bodyPr anchorCtr="0" anchor="ctr" bIns="91425" lIns="91425" spcFirstLastPara="1" rIns="91425" wrap="square" tIns="91425">
            <a:normAutofit fontScale="90000"/>
          </a:bodyPr>
          <a:lstStyle/>
          <a:p>
            <a:pPr indent="0" lvl="0" marL="0" rtl="0" algn="ctr">
              <a:lnSpc>
                <a:spcPct val="115000"/>
              </a:lnSpc>
              <a:spcBef>
                <a:spcPts val="0"/>
              </a:spcBef>
              <a:spcAft>
                <a:spcPts val="0"/>
              </a:spcAft>
              <a:buNone/>
            </a:pPr>
            <a:r>
              <a:rPr b="1" lang="en-GB" sz="1800">
                <a:solidFill>
                  <a:srgbClr val="000000"/>
                </a:solidFill>
                <a:highlight>
                  <a:srgbClr val="FFFFFF"/>
                </a:highlight>
                <a:latin typeface="Arial"/>
                <a:ea typeface="Arial"/>
                <a:cs typeface="Arial"/>
                <a:sym typeface="Arial"/>
              </a:rPr>
              <a:t>             </a:t>
            </a:r>
            <a:endParaRPr b="1" sz="1800">
              <a:solidFill>
                <a:srgbClr val="000000"/>
              </a:solidFill>
              <a:highlight>
                <a:srgbClr val="FFFFFF"/>
              </a:highlight>
              <a:latin typeface="Arial"/>
              <a:ea typeface="Arial"/>
              <a:cs typeface="Arial"/>
              <a:sym typeface="Arial"/>
            </a:endParaRPr>
          </a:p>
          <a:p>
            <a:pPr indent="0" lvl="0" marL="0" rtl="0" algn="ctr">
              <a:lnSpc>
                <a:spcPct val="115000"/>
              </a:lnSpc>
              <a:spcBef>
                <a:spcPts val="800"/>
              </a:spcBef>
              <a:spcAft>
                <a:spcPts val="0"/>
              </a:spcAft>
              <a:buNone/>
            </a:pPr>
            <a:r>
              <a:rPr b="1" lang="en-GB" sz="2022">
                <a:solidFill>
                  <a:srgbClr val="000000"/>
                </a:solidFill>
                <a:highlight>
                  <a:srgbClr val="FFFFFF"/>
                </a:highlight>
                <a:latin typeface="Arial"/>
                <a:ea typeface="Arial"/>
                <a:cs typeface="Arial"/>
                <a:sym typeface="Arial"/>
              </a:rPr>
              <a:t>House Price Prediction Using Regression Tech</a:t>
            </a:r>
            <a:r>
              <a:rPr b="1" lang="en-GB" sz="2022">
                <a:solidFill>
                  <a:srgbClr val="000000"/>
                </a:solidFill>
                <a:highlight>
                  <a:srgbClr val="FFFFFF"/>
                </a:highlight>
                <a:latin typeface="Arial"/>
                <a:ea typeface="Arial"/>
                <a:cs typeface="Arial"/>
                <a:sym typeface="Arial"/>
              </a:rPr>
              <a:t>niques</a:t>
            </a:r>
            <a:endParaRPr b="1" sz="1400">
              <a:solidFill>
                <a:srgbClr val="000000"/>
              </a:solidFill>
              <a:highlight>
                <a:srgbClr val="FFFFFF"/>
              </a:highlight>
              <a:latin typeface="Arial"/>
              <a:ea typeface="Arial"/>
              <a:cs typeface="Arial"/>
              <a:sym typeface="Arial"/>
            </a:endParaRPr>
          </a:p>
          <a:p>
            <a:pPr indent="0" lvl="0" marL="0" rtl="0" algn="ctr">
              <a:lnSpc>
                <a:spcPct val="115000"/>
              </a:lnSpc>
              <a:spcBef>
                <a:spcPts val="800"/>
              </a:spcBef>
              <a:spcAft>
                <a:spcPts val="800"/>
              </a:spcAft>
              <a:buNone/>
            </a:pPr>
            <a:r>
              <a:rPr b="1" lang="en-GB" sz="1400">
                <a:solidFill>
                  <a:srgbClr val="000000"/>
                </a:solidFill>
                <a:highlight>
                  <a:srgbClr val="FFFFFF"/>
                </a:highlight>
                <a:latin typeface="Arial"/>
                <a:ea typeface="Arial"/>
                <a:cs typeface="Arial"/>
                <a:sym typeface="Arial"/>
              </a:rPr>
              <a:t>Data Analysis and Regression</a:t>
            </a:r>
            <a:endParaRPr b="1" sz="1400">
              <a:solidFill>
                <a:srgbClr val="000000"/>
              </a:solidFill>
              <a:highlight>
                <a:srgbClr val="FFFFFF"/>
              </a:highlight>
              <a:latin typeface="Arial"/>
              <a:ea typeface="Arial"/>
              <a:cs typeface="Arial"/>
              <a:sym typeface="Arial"/>
            </a:endParaRPr>
          </a:p>
        </p:txBody>
      </p:sp>
      <p:sp>
        <p:nvSpPr>
          <p:cNvPr id="129" name="Google Shape;129;p13"/>
          <p:cNvSpPr txBox="1"/>
          <p:nvPr>
            <p:ph idx="1" type="subTitle"/>
          </p:nvPr>
        </p:nvSpPr>
        <p:spPr>
          <a:xfrm>
            <a:off x="1055300" y="2683925"/>
            <a:ext cx="2301600" cy="13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200" u="sng">
                <a:solidFill>
                  <a:srgbClr val="000000"/>
                </a:solidFill>
                <a:latin typeface="Arial"/>
                <a:ea typeface="Arial"/>
                <a:cs typeface="Arial"/>
                <a:sym typeface="Arial"/>
              </a:rPr>
              <a:t>Professor</a:t>
            </a:r>
            <a:r>
              <a:rPr b="1" lang="en-GB" sz="1200">
                <a:solidFill>
                  <a:srgbClr val="000000"/>
                </a:solidFill>
                <a:latin typeface="Arial"/>
                <a:ea typeface="Arial"/>
                <a:cs typeface="Arial"/>
                <a:sym typeface="Arial"/>
              </a:rPr>
              <a:t>:</a:t>
            </a:r>
            <a:endParaRPr b="1" sz="1200">
              <a:solidFill>
                <a:srgbClr val="000000"/>
              </a:solidFill>
              <a:latin typeface="Arial"/>
              <a:ea typeface="Arial"/>
              <a:cs typeface="Arial"/>
              <a:sym typeface="Arial"/>
            </a:endParaRPr>
          </a:p>
          <a:p>
            <a:pPr indent="0" lvl="0" marL="0" rtl="0" algn="l">
              <a:spcBef>
                <a:spcPts val="0"/>
              </a:spcBef>
              <a:spcAft>
                <a:spcPts val="0"/>
              </a:spcAft>
              <a:buNone/>
            </a:pPr>
            <a:r>
              <a:rPr b="1" lang="en-GB" sz="1200">
                <a:solidFill>
                  <a:srgbClr val="000000"/>
                </a:solidFill>
                <a:latin typeface="Arial"/>
                <a:ea typeface="Arial"/>
                <a:cs typeface="Arial"/>
                <a:sym typeface="Arial"/>
              </a:rPr>
              <a:t>Jamshid Sourati</a:t>
            </a:r>
            <a:endParaRPr b="1" sz="1100">
              <a:latin typeface="Arial"/>
              <a:ea typeface="Arial"/>
              <a:cs typeface="Arial"/>
              <a:sym typeface="Arial"/>
            </a:endParaRPr>
          </a:p>
        </p:txBody>
      </p:sp>
      <p:pic>
        <p:nvPicPr>
          <p:cNvPr id="130" name="Google Shape;130;p13"/>
          <p:cNvPicPr preferRelativeResize="0"/>
          <p:nvPr/>
        </p:nvPicPr>
        <p:blipFill>
          <a:blip r:embed="rId3">
            <a:alphaModFix/>
          </a:blip>
          <a:stretch>
            <a:fillRect/>
          </a:stretch>
        </p:blipFill>
        <p:spPr>
          <a:xfrm>
            <a:off x="3951125" y="2139087"/>
            <a:ext cx="685500" cy="706276"/>
          </a:xfrm>
          <a:prstGeom prst="rect">
            <a:avLst/>
          </a:prstGeom>
          <a:noFill/>
          <a:ln>
            <a:noFill/>
          </a:ln>
        </p:spPr>
      </p:pic>
      <p:sp>
        <p:nvSpPr>
          <p:cNvPr id="131" name="Google Shape;131;p13"/>
          <p:cNvSpPr txBox="1"/>
          <p:nvPr/>
        </p:nvSpPr>
        <p:spPr>
          <a:xfrm>
            <a:off x="5924575" y="2659000"/>
            <a:ext cx="2974500" cy="18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u="sng"/>
              <a:t>Group 8:</a:t>
            </a:r>
            <a:endParaRPr b="1" sz="1200" u="sng"/>
          </a:p>
          <a:p>
            <a:pPr indent="0" lvl="0" marL="0" rtl="0" algn="l">
              <a:spcBef>
                <a:spcPts val="0"/>
              </a:spcBef>
              <a:spcAft>
                <a:spcPts val="0"/>
              </a:spcAft>
              <a:buNone/>
            </a:pPr>
            <a:r>
              <a:t/>
            </a:r>
            <a:endParaRPr b="1" sz="1200" u="sng"/>
          </a:p>
          <a:p>
            <a:pPr indent="0" lvl="0" marL="0" rtl="0" algn="l">
              <a:spcBef>
                <a:spcPts val="0"/>
              </a:spcBef>
              <a:spcAft>
                <a:spcPts val="0"/>
              </a:spcAft>
              <a:buNone/>
            </a:pPr>
            <a:r>
              <a:rPr b="1" lang="en-GB" sz="1200"/>
              <a:t>Swetha Manupati</a:t>
            </a:r>
            <a:endParaRPr b="1" sz="1200"/>
          </a:p>
          <a:p>
            <a:pPr indent="0" lvl="0" marL="0" rtl="0" algn="l">
              <a:spcBef>
                <a:spcPts val="0"/>
              </a:spcBef>
              <a:spcAft>
                <a:spcPts val="0"/>
              </a:spcAft>
              <a:buNone/>
            </a:pPr>
            <a:r>
              <a:rPr b="1" lang="en-GB" sz="1200"/>
              <a:t>Varshini Sherapur Basavarajappa</a:t>
            </a:r>
            <a:endParaRPr b="1" sz="1200"/>
          </a:p>
          <a:p>
            <a:pPr indent="0" lvl="0" marL="0" rtl="0" algn="l">
              <a:spcBef>
                <a:spcPts val="0"/>
              </a:spcBef>
              <a:spcAft>
                <a:spcPts val="0"/>
              </a:spcAft>
              <a:buNone/>
            </a:pPr>
            <a:r>
              <a:rPr b="1" lang="en-GB" sz="1200"/>
              <a:t>Vinisha Recharla Purushotham </a:t>
            </a:r>
            <a:endParaRPr b="1" sz="1200"/>
          </a:p>
          <a:p>
            <a:pPr indent="0" lvl="0" marL="0" rtl="0" algn="l">
              <a:spcBef>
                <a:spcPts val="0"/>
              </a:spcBef>
              <a:spcAft>
                <a:spcPts val="0"/>
              </a:spcAft>
              <a:buNone/>
            </a:pPr>
            <a:r>
              <a:rPr b="1" lang="en-GB" sz="1200"/>
              <a:t>Shyam Sundar Theerdhala </a:t>
            </a:r>
            <a:endParaRPr b="1" sz="1200"/>
          </a:p>
          <a:p>
            <a:pPr indent="0" lvl="0" marL="0" rtl="0" algn="l">
              <a:spcBef>
                <a:spcPts val="0"/>
              </a:spcBef>
              <a:spcAft>
                <a:spcPts val="0"/>
              </a:spcAft>
              <a:buNone/>
            </a:pPr>
            <a:r>
              <a:rPr b="1" lang="en-GB" sz="1200"/>
              <a:t>Anirudh Tedlapally</a:t>
            </a:r>
            <a:endParaRPr b="1" sz="1200"/>
          </a:p>
          <a:p>
            <a:pPr indent="0" lvl="0" marL="0" rtl="0" algn="l">
              <a:spcBef>
                <a:spcPts val="0"/>
              </a:spcBef>
              <a:spcAft>
                <a:spcPts val="0"/>
              </a:spcAft>
              <a:buNone/>
            </a:pPr>
            <a:r>
              <a:t/>
            </a:r>
            <a:endParaRPr b="1" sz="1200">
              <a:solidFill>
                <a:schemeClr val="lt1"/>
              </a:solidFill>
            </a:endParaRPr>
          </a:p>
          <a:p>
            <a:pPr indent="0" lvl="0" marL="0" rtl="0" algn="l">
              <a:spcBef>
                <a:spcPts val="0"/>
              </a:spcBef>
              <a:spcAft>
                <a:spcPts val="0"/>
              </a:spcAft>
              <a:buNone/>
            </a:pPr>
            <a:r>
              <a:t/>
            </a:r>
            <a:endParaRPr b="1" sz="1200">
              <a:solidFill>
                <a:schemeClr val="lt1"/>
              </a:solidFill>
            </a:endParaRPr>
          </a:p>
          <a:p>
            <a:pPr indent="0" lvl="0" marL="0" rtl="0" algn="l">
              <a:spcBef>
                <a:spcPts val="0"/>
              </a:spcBef>
              <a:spcAft>
                <a:spcPts val="0"/>
              </a:spcAft>
              <a:buNone/>
            </a:pPr>
            <a:r>
              <a:t/>
            </a:r>
            <a:endParaRPr b="1"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4"/>
          <p:cNvSpPr txBox="1"/>
          <p:nvPr>
            <p:ph type="title"/>
          </p:nvPr>
        </p:nvSpPr>
        <p:spPr>
          <a:xfrm>
            <a:off x="819150" y="540100"/>
            <a:ext cx="7505700" cy="4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Problem Statement : </a:t>
            </a:r>
            <a:endParaRPr b="1" sz="1800"/>
          </a:p>
        </p:txBody>
      </p:sp>
      <p:sp>
        <p:nvSpPr>
          <p:cNvPr id="137" name="Google Shape;137;p14"/>
          <p:cNvSpPr txBox="1"/>
          <p:nvPr>
            <p:ph idx="1" type="body"/>
          </p:nvPr>
        </p:nvSpPr>
        <p:spPr>
          <a:xfrm>
            <a:off x="819150" y="1056025"/>
            <a:ext cx="7505700" cy="3057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GB" sz="1400"/>
              <a:t>Buying a home is one of the biggest financial decisions people make, but the housing market can be complicated and unpredictable. Home prices vary based on many factors, including property size, location, and amenities.</a:t>
            </a:r>
            <a:endParaRPr sz="1400"/>
          </a:p>
          <a:p>
            <a:pPr indent="-317500" lvl="0" marL="457200" rtl="0" algn="l">
              <a:spcBef>
                <a:spcPts val="0"/>
              </a:spcBef>
              <a:spcAft>
                <a:spcPts val="0"/>
              </a:spcAft>
              <a:buSzPts val="1400"/>
              <a:buChar char="●"/>
            </a:pPr>
            <a:r>
              <a:rPr lang="en-GB" sz="1400"/>
              <a:t>Homebuyers often struggle with transparency, negotiating with agents, and fears of overpaying.</a:t>
            </a:r>
            <a:endParaRPr sz="1400"/>
          </a:p>
          <a:p>
            <a:pPr indent="-317500" lvl="0" marL="457200" rtl="0" algn="l">
              <a:spcBef>
                <a:spcPts val="0"/>
              </a:spcBef>
              <a:spcAft>
                <a:spcPts val="0"/>
              </a:spcAft>
              <a:buSzPts val="1400"/>
              <a:buChar char="●"/>
            </a:pPr>
            <a:r>
              <a:rPr lang="en-GB" sz="1400"/>
              <a:t>Real estate developers and sellers need reliable pricing tools to set competitive property prices based on market trends and property features.</a:t>
            </a:r>
            <a:endParaRPr sz="1400"/>
          </a:p>
          <a:p>
            <a:pPr indent="-317500" lvl="0" marL="457200" rtl="0" algn="l">
              <a:spcBef>
                <a:spcPts val="0"/>
              </a:spcBef>
              <a:spcAft>
                <a:spcPts val="0"/>
              </a:spcAft>
              <a:buSzPts val="1400"/>
              <a:buChar char="●"/>
            </a:pPr>
            <a:r>
              <a:rPr lang="en-GB" sz="1400"/>
              <a:t>Our project aims to create a House Price Prediction Model using regression to accurately predict prices based on factors like size, rooms, amenities, and location. </a:t>
            </a:r>
            <a:br>
              <a:rPr lang="en-GB" sz="1400"/>
            </a:br>
            <a:r>
              <a:rPr lang="en-GB" sz="1400"/>
              <a:t>This will help homebuyers make better decisions, find affordable homes, and assist sellers and developers in setting competitive prices using real data.</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5"/>
          <p:cNvSpPr txBox="1"/>
          <p:nvPr>
            <p:ph type="title"/>
          </p:nvPr>
        </p:nvSpPr>
        <p:spPr>
          <a:xfrm flipH="1">
            <a:off x="544425" y="447100"/>
            <a:ext cx="7240800" cy="50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Overview : </a:t>
            </a:r>
            <a:endParaRPr b="1" sz="1800"/>
          </a:p>
        </p:txBody>
      </p:sp>
      <p:sp>
        <p:nvSpPr>
          <p:cNvPr id="143" name="Google Shape;143;p15"/>
          <p:cNvSpPr txBox="1"/>
          <p:nvPr>
            <p:ph idx="1" type="body"/>
          </p:nvPr>
        </p:nvSpPr>
        <p:spPr>
          <a:xfrm>
            <a:off x="417925" y="855300"/>
            <a:ext cx="7906800" cy="4111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Problem Statement</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About Dataset</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Data Preprocessing</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Exploratory Data Analysis (EDA)</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Data Transformation</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Data Modeling     :</a:t>
            </a:r>
            <a:endParaRPr sz="1400">
              <a:latin typeface="Arial"/>
              <a:ea typeface="Arial"/>
              <a:cs typeface="Arial"/>
              <a:sym typeface="Arial"/>
            </a:endParaRPr>
          </a:p>
          <a:p>
            <a:pPr indent="-317500" lvl="1" marL="914400" rtl="0" algn="l">
              <a:lnSpc>
                <a:spcPct val="100000"/>
              </a:lnSpc>
              <a:spcBef>
                <a:spcPts val="0"/>
              </a:spcBef>
              <a:spcAft>
                <a:spcPts val="0"/>
              </a:spcAft>
              <a:buSzPts val="1400"/>
              <a:buFont typeface="Arial"/>
              <a:buAutoNum type="alphaLcPeriod"/>
            </a:pPr>
            <a:r>
              <a:rPr lang="en-GB" sz="1400">
                <a:latin typeface="Arial"/>
                <a:ea typeface="Arial"/>
                <a:cs typeface="Arial"/>
                <a:sym typeface="Arial"/>
              </a:rPr>
              <a:t>Simple Linear Regression, </a:t>
            </a:r>
            <a:endParaRPr sz="1400">
              <a:latin typeface="Arial"/>
              <a:ea typeface="Arial"/>
              <a:cs typeface="Arial"/>
              <a:sym typeface="Arial"/>
            </a:endParaRPr>
          </a:p>
          <a:p>
            <a:pPr indent="-317500" lvl="1" marL="914400" rtl="0" algn="l">
              <a:lnSpc>
                <a:spcPct val="100000"/>
              </a:lnSpc>
              <a:spcBef>
                <a:spcPts val="0"/>
              </a:spcBef>
              <a:spcAft>
                <a:spcPts val="0"/>
              </a:spcAft>
              <a:buSzPts val="1400"/>
              <a:buFont typeface="Arial"/>
              <a:buAutoNum type="alphaLcPeriod"/>
            </a:pPr>
            <a:r>
              <a:rPr lang="en-GB" sz="1400">
                <a:latin typeface="Arial"/>
                <a:ea typeface="Arial"/>
                <a:cs typeface="Arial"/>
                <a:sym typeface="Arial"/>
              </a:rPr>
              <a:t>Multiple Linear Regression, </a:t>
            </a:r>
            <a:endParaRPr sz="1400">
              <a:latin typeface="Arial"/>
              <a:ea typeface="Arial"/>
              <a:cs typeface="Arial"/>
              <a:sym typeface="Arial"/>
            </a:endParaRPr>
          </a:p>
          <a:p>
            <a:pPr indent="-317500" lvl="1" marL="914400" rtl="0" algn="l">
              <a:lnSpc>
                <a:spcPct val="100000"/>
              </a:lnSpc>
              <a:spcBef>
                <a:spcPts val="0"/>
              </a:spcBef>
              <a:spcAft>
                <a:spcPts val="0"/>
              </a:spcAft>
              <a:buSzPts val="1400"/>
              <a:buFont typeface="Arial"/>
              <a:buAutoNum type="alphaLcPeriod"/>
            </a:pPr>
            <a:r>
              <a:rPr lang="en-GB" sz="1400">
                <a:latin typeface="Arial"/>
                <a:ea typeface="Arial"/>
                <a:cs typeface="Arial"/>
                <a:sym typeface="Arial"/>
              </a:rPr>
              <a:t>Polynomial Linear Regression,                                         </a:t>
            </a:r>
            <a:endParaRPr sz="1400">
              <a:latin typeface="Arial"/>
              <a:ea typeface="Arial"/>
              <a:cs typeface="Arial"/>
              <a:sym typeface="Arial"/>
            </a:endParaRPr>
          </a:p>
          <a:p>
            <a:pPr indent="-317500" lvl="1" marL="914400" rtl="0" algn="l">
              <a:lnSpc>
                <a:spcPct val="100000"/>
              </a:lnSpc>
              <a:spcBef>
                <a:spcPts val="0"/>
              </a:spcBef>
              <a:spcAft>
                <a:spcPts val="0"/>
              </a:spcAft>
              <a:buSzPts val="1400"/>
              <a:buFont typeface="Arial"/>
              <a:buAutoNum type="alphaLcPeriod"/>
            </a:pPr>
            <a:r>
              <a:rPr lang="en-GB" sz="1400">
                <a:latin typeface="Arial"/>
                <a:ea typeface="Arial"/>
                <a:cs typeface="Arial"/>
                <a:sym typeface="Arial"/>
              </a:rPr>
              <a:t>Lasso Regression, </a:t>
            </a:r>
            <a:endParaRPr sz="1400">
              <a:latin typeface="Arial"/>
              <a:ea typeface="Arial"/>
              <a:cs typeface="Arial"/>
              <a:sym typeface="Arial"/>
            </a:endParaRPr>
          </a:p>
          <a:p>
            <a:pPr indent="-317500" lvl="1" marL="914400" rtl="0" algn="l">
              <a:lnSpc>
                <a:spcPct val="100000"/>
              </a:lnSpc>
              <a:spcBef>
                <a:spcPts val="0"/>
              </a:spcBef>
              <a:spcAft>
                <a:spcPts val="0"/>
              </a:spcAft>
              <a:buSzPts val="1400"/>
              <a:buFont typeface="Arial"/>
              <a:buAutoNum type="alphaLcPeriod"/>
            </a:pPr>
            <a:r>
              <a:rPr lang="en-GB" sz="1400">
                <a:latin typeface="Arial"/>
                <a:ea typeface="Arial"/>
                <a:cs typeface="Arial"/>
                <a:sym typeface="Arial"/>
              </a:rPr>
              <a:t>Ridge Regression.</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Model Evaluation</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Multicollinearity &amp; VIF</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Residual Analysis and ANOVA</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Conclusi</a:t>
            </a:r>
            <a:r>
              <a:rPr lang="en-GB" sz="1400">
                <a:latin typeface="Arial"/>
                <a:ea typeface="Arial"/>
                <a:cs typeface="Arial"/>
                <a:sym typeface="Arial"/>
              </a:rPr>
              <a:t>on and Future Scope</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AutoNum type="arabicPeriod"/>
            </a:pPr>
            <a:r>
              <a:rPr lang="en-GB" sz="1400">
                <a:latin typeface="Arial"/>
                <a:ea typeface="Arial"/>
                <a:cs typeface="Arial"/>
                <a:sym typeface="Arial"/>
              </a:rPr>
              <a:t>References</a:t>
            </a:r>
            <a:endParaRPr sz="1400">
              <a:latin typeface="Arial"/>
              <a:ea typeface="Arial"/>
              <a:cs typeface="Arial"/>
              <a:sym typeface="Arial"/>
            </a:endParaRPr>
          </a:p>
          <a:p>
            <a:pPr indent="0" lvl="0" marL="0" rtl="0" algn="l">
              <a:lnSpc>
                <a:spcPct val="100000"/>
              </a:lnSpc>
              <a:spcBef>
                <a:spcPts val="1200"/>
              </a:spcBef>
              <a:spcAft>
                <a:spcPts val="0"/>
              </a:spcAft>
              <a:buNone/>
            </a:pPr>
            <a:r>
              <a:t/>
            </a:r>
            <a:endParaRPr sz="1400">
              <a:latin typeface="Arial"/>
              <a:ea typeface="Arial"/>
              <a:cs typeface="Arial"/>
              <a:sym typeface="Arial"/>
            </a:endParaRPr>
          </a:p>
          <a:p>
            <a:pPr indent="0" lvl="0" marL="457200" rtl="0" algn="l">
              <a:lnSpc>
                <a:spcPct val="100000"/>
              </a:lnSpc>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819150" y="446850"/>
            <a:ext cx="7505700" cy="58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Dataset Description </a:t>
            </a:r>
            <a:endParaRPr b="1" sz="1800"/>
          </a:p>
        </p:txBody>
      </p:sp>
      <p:sp>
        <p:nvSpPr>
          <p:cNvPr id="149" name="Google Shape;149;p16"/>
          <p:cNvSpPr txBox="1"/>
          <p:nvPr>
            <p:ph idx="1" type="body"/>
          </p:nvPr>
        </p:nvSpPr>
        <p:spPr>
          <a:xfrm>
            <a:off x="864175" y="1105150"/>
            <a:ext cx="7460700" cy="273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00"/>
              <a:t>Data Set Name:</a:t>
            </a:r>
            <a:r>
              <a:rPr lang="en-GB" sz="1400"/>
              <a:t> Housing Price Prediction</a:t>
            </a:r>
            <a:endParaRPr sz="1400"/>
          </a:p>
          <a:p>
            <a:pPr indent="0" lvl="0" marL="0" rtl="0" algn="l">
              <a:spcBef>
                <a:spcPts val="1200"/>
              </a:spcBef>
              <a:spcAft>
                <a:spcPts val="0"/>
              </a:spcAft>
              <a:buNone/>
            </a:pPr>
            <a:r>
              <a:rPr b="1" lang="en-GB" sz="1400"/>
              <a:t>Source: </a:t>
            </a:r>
            <a:r>
              <a:rPr lang="en-GB" sz="1400"/>
              <a:t>Housing Price Prediction | </a:t>
            </a:r>
            <a:r>
              <a:rPr lang="en-GB" sz="1400" u="sng">
                <a:solidFill>
                  <a:schemeClr val="hlink"/>
                </a:solidFill>
                <a:hlinkClick r:id="rId3"/>
              </a:rPr>
              <a:t>Kaggle</a:t>
            </a:r>
            <a:endParaRPr sz="1400"/>
          </a:p>
          <a:p>
            <a:pPr indent="0" lvl="0" marL="0" rtl="0" algn="l">
              <a:spcBef>
                <a:spcPts val="1200"/>
              </a:spcBef>
              <a:spcAft>
                <a:spcPts val="0"/>
              </a:spcAft>
              <a:buNone/>
            </a:pPr>
            <a:r>
              <a:rPr b="1" lang="en-GB" sz="1400"/>
              <a:t>Sample Size: </a:t>
            </a:r>
            <a:r>
              <a:rPr lang="en-GB" sz="1400"/>
              <a:t>545 records</a:t>
            </a:r>
            <a:endParaRPr sz="1400"/>
          </a:p>
          <a:p>
            <a:pPr indent="0" lvl="0" marL="0" rtl="0" algn="l">
              <a:spcBef>
                <a:spcPts val="1200"/>
              </a:spcBef>
              <a:spcAft>
                <a:spcPts val="0"/>
              </a:spcAft>
              <a:buNone/>
            </a:pPr>
            <a:r>
              <a:rPr b="1" lang="en-GB" sz="1400"/>
              <a:t>Total Variables: </a:t>
            </a:r>
            <a:r>
              <a:rPr lang="en-GB" sz="1400"/>
              <a:t>13 variables (12 independent and 1 dependent)</a:t>
            </a:r>
            <a:endParaRPr sz="1400"/>
          </a:p>
          <a:p>
            <a:pPr indent="0" lvl="0" marL="0" rtl="0" algn="l">
              <a:spcBef>
                <a:spcPts val="1200"/>
              </a:spcBef>
              <a:spcAft>
                <a:spcPts val="0"/>
              </a:spcAft>
              <a:buNone/>
            </a:pPr>
            <a:r>
              <a:rPr b="1" lang="en-GB" sz="1400">
                <a:solidFill>
                  <a:srgbClr val="000000"/>
                </a:solidFill>
                <a:latin typeface="Arial"/>
                <a:ea typeface="Arial"/>
                <a:cs typeface="Arial"/>
                <a:sym typeface="Arial"/>
              </a:rPr>
              <a:t>Dependent Variable (Target):</a:t>
            </a:r>
            <a:endParaRPr b="1"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b="1" lang="en-GB" sz="1400">
                <a:solidFill>
                  <a:srgbClr val="000000"/>
                </a:solidFill>
                <a:latin typeface="Arial"/>
                <a:ea typeface="Arial"/>
                <a:cs typeface="Arial"/>
                <a:sym typeface="Arial"/>
              </a:rPr>
              <a:t>Price</a:t>
            </a:r>
            <a:r>
              <a:rPr lang="en-GB" sz="1400">
                <a:solidFill>
                  <a:srgbClr val="000000"/>
                </a:solidFill>
                <a:latin typeface="Arial"/>
                <a:ea typeface="Arial"/>
                <a:cs typeface="Arial"/>
                <a:sym typeface="Arial"/>
              </a:rPr>
              <a:t>: The price of the house, representing the house price we aim to predict.</a:t>
            </a:r>
            <a:endParaRPr sz="14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txBox="1"/>
          <p:nvPr>
            <p:ph type="title"/>
          </p:nvPr>
        </p:nvSpPr>
        <p:spPr>
          <a:xfrm>
            <a:off x="819125" y="456800"/>
            <a:ext cx="7505700" cy="70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Features :</a:t>
            </a:r>
            <a:endParaRPr b="1" sz="1800"/>
          </a:p>
        </p:txBody>
      </p:sp>
      <p:sp>
        <p:nvSpPr>
          <p:cNvPr id="155" name="Google Shape;155;p17"/>
          <p:cNvSpPr txBox="1"/>
          <p:nvPr>
            <p:ph idx="1" type="body"/>
          </p:nvPr>
        </p:nvSpPr>
        <p:spPr>
          <a:xfrm>
            <a:off x="819150" y="852625"/>
            <a:ext cx="7505700" cy="3873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GB" sz="1400">
                <a:solidFill>
                  <a:srgbClr val="000000"/>
                </a:solidFill>
                <a:latin typeface="Arial"/>
                <a:ea typeface="Arial"/>
                <a:cs typeface="Arial"/>
                <a:sym typeface="Arial"/>
              </a:rPr>
              <a:t>Independent Variables (Predictors)</a:t>
            </a:r>
            <a:r>
              <a:rPr lang="en-GB"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Area</a:t>
            </a:r>
            <a:r>
              <a:rPr lang="en-GB" sz="1400">
                <a:solidFill>
                  <a:srgbClr val="000000"/>
                </a:solidFill>
                <a:latin typeface="Arial"/>
                <a:ea typeface="Arial"/>
                <a:cs typeface="Arial"/>
                <a:sym typeface="Arial"/>
              </a:rPr>
              <a:t>: Total area of the house in square feet.</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Bedrooms</a:t>
            </a:r>
            <a:r>
              <a:rPr lang="en-GB" sz="1400">
                <a:solidFill>
                  <a:srgbClr val="000000"/>
                </a:solidFill>
                <a:latin typeface="Arial"/>
                <a:ea typeface="Arial"/>
                <a:cs typeface="Arial"/>
                <a:sym typeface="Arial"/>
              </a:rPr>
              <a:t>: Number of bedrooms in the house.</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Bathrooms</a:t>
            </a:r>
            <a:r>
              <a:rPr lang="en-GB" sz="1400">
                <a:solidFill>
                  <a:srgbClr val="000000"/>
                </a:solidFill>
                <a:latin typeface="Arial"/>
                <a:ea typeface="Arial"/>
                <a:cs typeface="Arial"/>
                <a:sym typeface="Arial"/>
              </a:rPr>
              <a:t>: Number of bathrooms in the house.</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Stories</a:t>
            </a:r>
            <a:r>
              <a:rPr lang="en-GB" sz="1400">
                <a:solidFill>
                  <a:srgbClr val="000000"/>
                </a:solidFill>
                <a:latin typeface="Arial"/>
                <a:ea typeface="Arial"/>
                <a:cs typeface="Arial"/>
                <a:sym typeface="Arial"/>
              </a:rPr>
              <a:t>: Number of stories/floors in the house.</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Mainroad</a:t>
            </a:r>
            <a:r>
              <a:rPr lang="en-GB" sz="1400">
                <a:solidFill>
                  <a:srgbClr val="000000"/>
                </a:solidFill>
                <a:latin typeface="Arial"/>
                <a:ea typeface="Arial"/>
                <a:cs typeface="Arial"/>
                <a:sym typeface="Arial"/>
              </a:rPr>
              <a:t>: Whether the house is on a main road (Yes/No).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Guestroom</a:t>
            </a:r>
            <a:r>
              <a:rPr lang="en-GB" sz="1400">
                <a:solidFill>
                  <a:srgbClr val="000000"/>
                </a:solidFill>
                <a:latin typeface="Arial"/>
                <a:ea typeface="Arial"/>
                <a:cs typeface="Arial"/>
                <a:sym typeface="Arial"/>
              </a:rPr>
              <a:t>: Presence of a guest room (Yes/No).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Basement</a:t>
            </a:r>
            <a:r>
              <a:rPr lang="en-GB" sz="1400">
                <a:solidFill>
                  <a:srgbClr val="000000"/>
                </a:solidFill>
                <a:latin typeface="Arial"/>
                <a:ea typeface="Arial"/>
                <a:cs typeface="Arial"/>
                <a:sym typeface="Arial"/>
              </a:rPr>
              <a:t>: Whether the house has a basement (Yes/No).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Hot Water Heating</a:t>
            </a:r>
            <a:r>
              <a:rPr lang="en-GB" sz="1400">
                <a:solidFill>
                  <a:srgbClr val="000000"/>
                </a:solidFill>
                <a:latin typeface="Arial"/>
                <a:ea typeface="Arial"/>
                <a:cs typeface="Arial"/>
                <a:sym typeface="Arial"/>
              </a:rPr>
              <a:t>: Availability of hot water heating (Yes/No).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Air Conditioning</a:t>
            </a:r>
            <a:r>
              <a:rPr lang="en-GB" sz="1400">
                <a:solidFill>
                  <a:srgbClr val="000000"/>
                </a:solidFill>
                <a:latin typeface="Arial"/>
                <a:ea typeface="Arial"/>
                <a:cs typeface="Arial"/>
                <a:sym typeface="Arial"/>
              </a:rPr>
              <a:t>: Availability of air conditioning (Yes/No).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Parking</a:t>
            </a:r>
            <a:r>
              <a:rPr lang="en-GB" sz="1400">
                <a:solidFill>
                  <a:srgbClr val="000000"/>
                </a:solidFill>
                <a:latin typeface="Arial"/>
                <a:ea typeface="Arial"/>
                <a:cs typeface="Arial"/>
                <a:sym typeface="Arial"/>
              </a:rPr>
              <a:t>: Number of parking spaces available.</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Prefarea</a:t>
            </a:r>
            <a:r>
              <a:rPr lang="en-GB" sz="1400">
                <a:solidFill>
                  <a:srgbClr val="000000"/>
                </a:solidFill>
                <a:latin typeface="Arial"/>
                <a:ea typeface="Arial"/>
                <a:cs typeface="Arial"/>
                <a:sym typeface="Arial"/>
              </a:rPr>
              <a:t>: Whether the house is in a preferred area (Yes/No).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b="1" lang="en-GB" sz="1400">
                <a:solidFill>
                  <a:srgbClr val="000000"/>
                </a:solidFill>
                <a:latin typeface="Arial"/>
                <a:ea typeface="Arial"/>
                <a:cs typeface="Arial"/>
                <a:sym typeface="Arial"/>
              </a:rPr>
              <a:t>Furnishing Status</a:t>
            </a:r>
            <a:r>
              <a:rPr lang="en-GB" sz="1400">
                <a:solidFill>
                  <a:srgbClr val="000000"/>
                </a:solidFill>
                <a:latin typeface="Arial"/>
                <a:ea typeface="Arial"/>
                <a:cs typeface="Arial"/>
                <a:sym typeface="Arial"/>
              </a:rPr>
              <a:t>: Level of furnishing (Fully Furnished, Semi-Furnished, or Unfurnished).</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type="title"/>
          </p:nvPr>
        </p:nvSpPr>
        <p:spPr>
          <a:xfrm>
            <a:off x="819150" y="352175"/>
            <a:ext cx="7505700" cy="45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Variable Types and Distributions</a:t>
            </a:r>
            <a:endParaRPr b="1" sz="1800"/>
          </a:p>
        </p:txBody>
      </p:sp>
      <p:sp>
        <p:nvSpPr>
          <p:cNvPr id="161" name="Google Shape;161;p18"/>
          <p:cNvSpPr txBox="1"/>
          <p:nvPr>
            <p:ph idx="1" type="body"/>
          </p:nvPr>
        </p:nvSpPr>
        <p:spPr>
          <a:xfrm>
            <a:off x="819150" y="806700"/>
            <a:ext cx="7505700" cy="40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t>Categorical Variables: </a:t>
            </a:r>
            <a:r>
              <a:rPr lang="en-GB" sz="1400"/>
              <a:t>Have distinct categories or labels </a:t>
            </a:r>
            <a:endParaRPr sz="1400"/>
          </a:p>
          <a:p>
            <a:pPr indent="-317500" lvl="0" marL="457200" rtl="0" algn="l">
              <a:spcBef>
                <a:spcPts val="1200"/>
              </a:spcBef>
              <a:spcAft>
                <a:spcPts val="0"/>
              </a:spcAft>
              <a:buSzPts val="1400"/>
              <a:buChar char="●"/>
            </a:pPr>
            <a:r>
              <a:rPr lang="en-GB" sz="1400"/>
              <a:t>Mainroad: Yes/No</a:t>
            </a:r>
            <a:endParaRPr sz="1400"/>
          </a:p>
          <a:p>
            <a:pPr indent="-317500" lvl="0" marL="457200" rtl="0" algn="l">
              <a:spcBef>
                <a:spcPts val="0"/>
              </a:spcBef>
              <a:spcAft>
                <a:spcPts val="0"/>
              </a:spcAft>
              <a:buSzPts val="1400"/>
              <a:buChar char="●"/>
            </a:pPr>
            <a:r>
              <a:rPr lang="en-GB" sz="1400"/>
              <a:t>Guestroom: Yes/No</a:t>
            </a:r>
            <a:endParaRPr sz="1400"/>
          </a:p>
          <a:p>
            <a:pPr indent="-317500" lvl="0" marL="457200" rtl="0" algn="l">
              <a:spcBef>
                <a:spcPts val="0"/>
              </a:spcBef>
              <a:spcAft>
                <a:spcPts val="0"/>
              </a:spcAft>
              <a:buSzPts val="1400"/>
              <a:buChar char="●"/>
            </a:pPr>
            <a:r>
              <a:rPr lang="en-GB" sz="1400"/>
              <a:t>Basement: Yes/No</a:t>
            </a:r>
            <a:endParaRPr sz="1400"/>
          </a:p>
          <a:p>
            <a:pPr indent="-317500" lvl="0" marL="457200" rtl="0" algn="l">
              <a:spcBef>
                <a:spcPts val="0"/>
              </a:spcBef>
              <a:spcAft>
                <a:spcPts val="0"/>
              </a:spcAft>
              <a:buSzPts val="1400"/>
              <a:buChar char="●"/>
            </a:pPr>
            <a:r>
              <a:rPr lang="en-GB" sz="1400"/>
              <a:t>Hot Water Heating: Yes/No</a:t>
            </a:r>
            <a:endParaRPr sz="1400"/>
          </a:p>
          <a:p>
            <a:pPr indent="-317500" lvl="0" marL="457200" rtl="0" algn="l">
              <a:spcBef>
                <a:spcPts val="0"/>
              </a:spcBef>
              <a:spcAft>
                <a:spcPts val="0"/>
              </a:spcAft>
              <a:buSzPts val="1400"/>
              <a:buChar char="●"/>
            </a:pPr>
            <a:r>
              <a:rPr lang="en-GB" sz="1400"/>
              <a:t>Air Conditioning: Yes/No</a:t>
            </a:r>
            <a:endParaRPr sz="1400"/>
          </a:p>
          <a:p>
            <a:pPr indent="-317500" lvl="0" marL="457200" rtl="0" algn="l">
              <a:spcBef>
                <a:spcPts val="0"/>
              </a:spcBef>
              <a:spcAft>
                <a:spcPts val="0"/>
              </a:spcAft>
              <a:buSzPts val="1400"/>
              <a:buChar char="●"/>
            </a:pPr>
            <a:r>
              <a:rPr lang="en-GB" sz="1400"/>
              <a:t>Prefarea: Yes/No</a:t>
            </a:r>
            <a:endParaRPr sz="1400"/>
          </a:p>
          <a:p>
            <a:pPr indent="-317500" lvl="0" marL="457200" rtl="0" algn="l">
              <a:spcBef>
                <a:spcPts val="0"/>
              </a:spcBef>
              <a:spcAft>
                <a:spcPts val="0"/>
              </a:spcAft>
              <a:buSzPts val="1400"/>
              <a:buChar char="●"/>
            </a:pPr>
            <a:r>
              <a:rPr lang="en-GB" sz="1400"/>
              <a:t>Furnishing Status: Fully Furnished, Semi-Furnished, Unfurnished</a:t>
            </a:r>
            <a:endParaRPr sz="1400"/>
          </a:p>
          <a:p>
            <a:pPr indent="0" lvl="0" marL="0" rtl="0" algn="l">
              <a:spcBef>
                <a:spcPts val="1200"/>
              </a:spcBef>
              <a:spcAft>
                <a:spcPts val="0"/>
              </a:spcAft>
              <a:buNone/>
            </a:pPr>
            <a:r>
              <a:rPr b="1" lang="en-GB" sz="1400"/>
              <a:t>Numerical Variables: </a:t>
            </a:r>
            <a:r>
              <a:rPr lang="en-GB" sz="1400"/>
              <a:t>Represent measurable quantities </a:t>
            </a:r>
            <a:endParaRPr sz="1400"/>
          </a:p>
          <a:p>
            <a:pPr indent="-317500" lvl="0" marL="457200" rtl="0" algn="l">
              <a:spcBef>
                <a:spcPts val="1200"/>
              </a:spcBef>
              <a:spcAft>
                <a:spcPts val="0"/>
              </a:spcAft>
              <a:buSzPts val="1400"/>
              <a:buChar char="●"/>
            </a:pPr>
            <a:r>
              <a:rPr lang="en-GB" sz="1400"/>
              <a:t>Area: Continuous (Square feet)</a:t>
            </a:r>
            <a:endParaRPr sz="1400"/>
          </a:p>
          <a:p>
            <a:pPr indent="-317500" lvl="0" marL="457200" rtl="0" algn="l">
              <a:spcBef>
                <a:spcPts val="0"/>
              </a:spcBef>
              <a:spcAft>
                <a:spcPts val="0"/>
              </a:spcAft>
              <a:buSzPts val="1400"/>
              <a:buChar char="●"/>
            </a:pPr>
            <a:r>
              <a:rPr lang="en-GB" sz="1400"/>
              <a:t>Bedrooms: Discrete (Number of bedrooms)</a:t>
            </a:r>
            <a:endParaRPr sz="1400"/>
          </a:p>
          <a:p>
            <a:pPr indent="-317500" lvl="0" marL="457200" rtl="0" algn="l">
              <a:spcBef>
                <a:spcPts val="0"/>
              </a:spcBef>
              <a:spcAft>
                <a:spcPts val="0"/>
              </a:spcAft>
              <a:buSzPts val="1400"/>
              <a:buChar char="●"/>
            </a:pPr>
            <a:r>
              <a:rPr lang="en-GB" sz="1400"/>
              <a:t>Bathrooms: Discrete (Number of bathrooms)</a:t>
            </a:r>
            <a:endParaRPr sz="1400"/>
          </a:p>
          <a:p>
            <a:pPr indent="-317500" lvl="0" marL="457200" rtl="0" algn="l">
              <a:spcBef>
                <a:spcPts val="0"/>
              </a:spcBef>
              <a:spcAft>
                <a:spcPts val="0"/>
              </a:spcAft>
              <a:buSzPts val="1400"/>
              <a:buChar char="●"/>
            </a:pPr>
            <a:r>
              <a:rPr lang="en-GB" sz="1400"/>
              <a:t>Stories: Discrete (Number of stories)</a:t>
            </a:r>
            <a:endParaRPr sz="1400"/>
          </a:p>
          <a:p>
            <a:pPr indent="-317500" lvl="0" marL="457200" rtl="0" algn="l">
              <a:spcBef>
                <a:spcPts val="0"/>
              </a:spcBef>
              <a:spcAft>
                <a:spcPts val="0"/>
              </a:spcAft>
              <a:buSzPts val="1400"/>
              <a:buChar char="●"/>
            </a:pPr>
            <a:r>
              <a:rPr lang="en-GB" sz="1400"/>
              <a:t>Parking: Discrete (Number of parking spaces)</a:t>
            </a:r>
            <a:endParaRPr sz="1400"/>
          </a:p>
          <a:p>
            <a:pPr indent="0" lvl="0" marL="0" rtl="0" algn="l">
              <a:spcBef>
                <a:spcPts val="1200"/>
              </a:spcBef>
              <a:spcAft>
                <a:spcPts val="12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txBox="1"/>
          <p:nvPr>
            <p:ph type="title"/>
          </p:nvPr>
        </p:nvSpPr>
        <p:spPr>
          <a:xfrm>
            <a:off x="819150" y="503900"/>
            <a:ext cx="7505700" cy="60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Dataset statistical values</a:t>
            </a:r>
            <a:endParaRPr b="1" sz="1800"/>
          </a:p>
        </p:txBody>
      </p:sp>
      <p:sp>
        <p:nvSpPr>
          <p:cNvPr id="167" name="Google Shape;167;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8" name="Google Shape;168;p19"/>
          <p:cNvPicPr preferRelativeResize="0"/>
          <p:nvPr/>
        </p:nvPicPr>
        <p:blipFill>
          <a:blip r:embed="rId3">
            <a:alphaModFix/>
          </a:blip>
          <a:stretch>
            <a:fillRect/>
          </a:stretch>
        </p:blipFill>
        <p:spPr>
          <a:xfrm>
            <a:off x="1102875" y="1185100"/>
            <a:ext cx="7067226" cy="37363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idx="1" type="body"/>
          </p:nvPr>
        </p:nvSpPr>
        <p:spPr>
          <a:xfrm>
            <a:off x="819150" y="1027900"/>
            <a:ext cx="7505700" cy="310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4" name="Google Shape;174;p20"/>
          <p:cNvPicPr preferRelativeResize="0"/>
          <p:nvPr/>
        </p:nvPicPr>
        <p:blipFill>
          <a:blip r:embed="rId3">
            <a:alphaModFix/>
          </a:blip>
          <a:stretch>
            <a:fillRect/>
          </a:stretch>
        </p:blipFill>
        <p:spPr>
          <a:xfrm>
            <a:off x="819150" y="988825"/>
            <a:ext cx="7540076" cy="3657149"/>
          </a:xfrm>
          <a:prstGeom prst="rect">
            <a:avLst/>
          </a:prstGeom>
          <a:noFill/>
          <a:ln>
            <a:noFill/>
          </a:ln>
        </p:spPr>
      </p:pic>
      <p:sp>
        <p:nvSpPr>
          <p:cNvPr id="175" name="Google Shape;175;p20"/>
          <p:cNvSpPr txBox="1"/>
          <p:nvPr/>
        </p:nvSpPr>
        <p:spPr>
          <a:xfrm>
            <a:off x="772775" y="380300"/>
            <a:ext cx="73206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lt1"/>
                </a:solidFill>
                <a:latin typeface="Nunito"/>
                <a:ea typeface="Nunito"/>
                <a:cs typeface="Nunito"/>
                <a:sym typeface="Nunito"/>
              </a:rPr>
              <a:t>Dataset</a:t>
            </a:r>
            <a:endParaRPr b="1" sz="1800">
              <a:solidFill>
                <a:schemeClr val="lt1"/>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641550" y="563725"/>
            <a:ext cx="7683300" cy="48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Data Preprocessing:</a:t>
            </a:r>
            <a:endParaRPr b="1" sz="1800"/>
          </a:p>
        </p:txBody>
      </p:sp>
      <p:sp>
        <p:nvSpPr>
          <p:cNvPr id="181" name="Google Shape;181;p21"/>
          <p:cNvSpPr txBox="1"/>
          <p:nvPr>
            <p:ph idx="1" type="body"/>
          </p:nvPr>
        </p:nvSpPr>
        <p:spPr>
          <a:xfrm>
            <a:off x="641475" y="954550"/>
            <a:ext cx="8190600" cy="388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rgbClr val="000000"/>
                </a:solidFill>
                <a:latin typeface="Arial"/>
                <a:ea typeface="Arial"/>
                <a:cs typeface="Arial"/>
                <a:sym typeface="Arial"/>
              </a:rPr>
              <a:t>Data Preprocessing is the process of cleaning, transforming, and organizing raw data into a usable format to improve the accuracy and performance of the models.</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Data Cleaning: </a:t>
            </a:r>
            <a:r>
              <a:rPr lang="en-GB" sz="1400">
                <a:solidFill>
                  <a:srgbClr val="000000"/>
                </a:solidFill>
                <a:latin typeface="Arial"/>
                <a:ea typeface="Arial"/>
                <a:cs typeface="Arial"/>
                <a:sym typeface="Arial"/>
              </a:rPr>
              <a:t>Remove duplicate records.</a:t>
            </a:r>
            <a:br>
              <a:rPr lang="en-GB" sz="1400">
                <a:solidFill>
                  <a:srgbClr val="000000"/>
                </a:solidFill>
                <a:latin typeface="Arial"/>
                <a:ea typeface="Arial"/>
                <a:cs typeface="Arial"/>
                <a:sym typeface="Arial"/>
              </a:rPr>
            </a:br>
            <a:r>
              <a:rPr lang="en-GB" sz="1400">
                <a:solidFill>
                  <a:srgbClr val="000000"/>
                </a:solidFill>
                <a:latin typeface="Arial"/>
                <a:ea typeface="Arial"/>
                <a:cs typeface="Arial"/>
                <a:sym typeface="Arial"/>
              </a:rPr>
              <a:t>                          Check for inconsistencies in data entries.</a:t>
            </a:r>
            <a:br>
              <a:rPr lang="en-GB" sz="1400">
                <a:solidFill>
                  <a:srgbClr val="000000"/>
                </a:solidFill>
                <a:latin typeface="Arial"/>
                <a:ea typeface="Arial"/>
                <a:cs typeface="Arial"/>
                <a:sym typeface="Arial"/>
              </a:rPr>
            </a:br>
            <a:r>
              <a:rPr lang="en-GB" sz="1400">
                <a:solidFill>
                  <a:srgbClr val="000000"/>
                </a:solidFill>
                <a:latin typeface="Arial"/>
                <a:ea typeface="Arial"/>
                <a:cs typeface="Arial"/>
                <a:sym typeface="Arial"/>
              </a:rPr>
              <a:t>                          Ensure data types are consistent                  </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Handling Missing Values : </a:t>
            </a:r>
            <a:r>
              <a:rPr lang="en-GB" sz="1400">
                <a:solidFill>
                  <a:srgbClr val="000000"/>
                </a:solidFill>
                <a:latin typeface="Arial"/>
                <a:ea typeface="Arial"/>
                <a:cs typeface="Arial"/>
                <a:sym typeface="Arial"/>
              </a:rPr>
              <a:t>Identify missing data.</a:t>
            </a:r>
            <a:br>
              <a:rPr lang="en-GB" sz="1400">
                <a:solidFill>
                  <a:srgbClr val="000000"/>
                </a:solidFill>
                <a:latin typeface="Arial"/>
                <a:ea typeface="Arial"/>
                <a:cs typeface="Arial"/>
                <a:sym typeface="Arial"/>
              </a:rPr>
            </a:br>
            <a:r>
              <a:rPr lang="en-GB" sz="1400">
                <a:solidFill>
                  <a:srgbClr val="000000"/>
                </a:solidFill>
                <a:latin typeface="Arial"/>
                <a:ea typeface="Arial"/>
                <a:cs typeface="Arial"/>
                <a:sym typeface="Arial"/>
              </a:rPr>
              <a:t>                                              Fill missing values using imputation </a:t>
            </a:r>
            <a:br>
              <a:rPr lang="en-GB" sz="1400">
                <a:solidFill>
                  <a:srgbClr val="000000"/>
                </a:solidFill>
                <a:latin typeface="Arial"/>
                <a:ea typeface="Arial"/>
                <a:cs typeface="Arial"/>
                <a:sym typeface="Arial"/>
              </a:rPr>
            </a:br>
            <a:r>
              <a:rPr lang="en-GB" sz="1400">
                <a:solidFill>
                  <a:srgbClr val="000000"/>
                </a:solidFill>
                <a:latin typeface="Arial"/>
                <a:ea typeface="Arial"/>
                <a:cs typeface="Arial"/>
                <a:sym typeface="Arial"/>
              </a:rPr>
              <a:t>                                            mean, median, mode or remove records.</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Duplicates:</a:t>
            </a:r>
            <a:r>
              <a:rPr lang="en-GB" sz="1400">
                <a:solidFill>
                  <a:srgbClr val="000000"/>
                </a:solidFill>
                <a:latin typeface="Arial"/>
                <a:ea typeface="Arial"/>
                <a:cs typeface="Arial"/>
                <a:sym typeface="Arial"/>
              </a:rPr>
              <a:t> Identify and remove duplicate records in the dataset to ensure unique and accurate data.</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Null Values : </a:t>
            </a:r>
            <a:r>
              <a:rPr lang="en-GB" sz="1400">
                <a:solidFill>
                  <a:srgbClr val="000000"/>
                </a:solidFill>
                <a:latin typeface="Arial"/>
                <a:ea typeface="Arial"/>
                <a:cs typeface="Arial"/>
                <a:sym typeface="Arial"/>
              </a:rPr>
              <a:t>Identify and handle missing null values through imputation or removal to avoid skewing results.</a:t>
            </a:r>
            <a:br>
              <a:rPr lang="en-GB"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819150" y="498550"/>
            <a:ext cx="7646700" cy="456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1800"/>
              <a:t>Data Preprocessing</a:t>
            </a:r>
            <a:endParaRPr b="1" sz="1800"/>
          </a:p>
        </p:txBody>
      </p:sp>
      <p:sp>
        <p:nvSpPr>
          <p:cNvPr id="187" name="Google Shape;187;p22"/>
          <p:cNvSpPr txBox="1"/>
          <p:nvPr>
            <p:ph idx="1" type="body"/>
          </p:nvPr>
        </p:nvSpPr>
        <p:spPr>
          <a:xfrm>
            <a:off x="533925" y="955450"/>
            <a:ext cx="7505700" cy="201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a:t>        Our dataset doesn’t have NULL values, duplicates or missing values. The dataset is clean</a:t>
            </a:r>
            <a:endParaRPr/>
          </a:p>
        </p:txBody>
      </p:sp>
      <p:pic>
        <p:nvPicPr>
          <p:cNvPr id="188" name="Google Shape;188;p22"/>
          <p:cNvPicPr preferRelativeResize="0"/>
          <p:nvPr/>
        </p:nvPicPr>
        <p:blipFill>
          <a:blip r:embed="rId3">
            <a:alphaModFix/>
          </a:blip>
          <a:stretch>
            <a:fillRect/>
          </a:stretch>
        </p:blipFill>
        <p:spPr>
          <a:xfrm>
            <a:off x="1106800" y="1631100"/>
            <a:ext cx="6327974" cy="2590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Data Encoding:</a:t>
            </a:r>
            <a:br>
              <a:rPr b="1" lang="en-GB" sz="1800"/>
            </a:br>
            <a:endParaRPr/>
          </a:p>
        </p:txBody>
      </p:sp>
      <p:sp>
        <p:nvSpPr>
          <p:cNvPr id="194" name="Google Shape;194;p23"/>
          <p:cNvSpPr txBox="1"/>
          <p:nvPr>
            <p:ph idx="1" type="body"/>
          </p:nvPr>
        </p:nvSpPr>
        <p:spPr>
          <a:xfrm>
            <a:off x="819150" y="1292675"/>
            <a:ext cx="7505700" cy="3146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sz="1400">
                <a:solidFill>
                  <a:srgbClr val="000000"/>
                </a:solidFill>
                <a:latin typeface="Nunito"/>
                <a:ea typeface="Nunito"/>
                <a:cs typeface="Nunito"/>
                <a:sym typeface="Nunito"/>
              </a:rPr>
              <a:t>Yes/No Encoding: </a:t>
            </a:r>
            <a:r>
              <a:rPr lang="en-GB" sz="1400">
                <a:solidFill>
                  <a:srgbClr val="000000"/>
                </a:solidFill>
                <a:latin typeface="Nunito"/>
                <a:ea typeface="Nunito"/>
                <a:cs typeface="Nunito"/>
                <a:sym typeface="Nunito"/>
              </a:rPr>
              <a:t>Convert binary variables into 0 or 1.</a:t>
            </a:r>
            <a:endParaRPr sz="1400">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rPr b="1" lang="en-GB" sz="1400">
                <a:solidFill>
                  <a:srgbClr val="000000"/>
                </a:solidFill>
                <a:latin typeface="Nunito"/>
                <a:ea typeface="Nunito"/>
                <a:cs typeface="Nunito"/>
                <a:sym typeface="Nunito"/>
              </a:rPr>
              <a:t>Furnishing Status Encoding: </a:t>
            </a:r>
            <a:r>
              <a:rPr lang="en-GB" sz="1400">
                <a:solidFill>
                  <a:srgbClr val="000000"/>
                </a:solidFill>
                <a:latin typeface="Nunito"/>
                <a:ea typeface="Nunito"/>
                <a:cs typeface="Nunito"/>
                <a:sym typeface="Nunito"/>
              </a:rPr>
              <a:t>Convert categories </a:t>
            </a:r>
            <a:br>
              <a:rPr lang="en-GB" sz="1400">
                <a:solidFill>
                  <a:srgbClr val="000000"/>
                </a:solidFill>
                <a:latin typeface="Nunito"/>
                <a:ea typeface="Nunito"/>
                <a:cs typeface="Nunito"/>
                <a:sym typeface="Nunito"/>
              </a:rPr>
            </a:br>
            <a:r>
              <a:rPr lang="en-GB" sz="1400">
                <a:solidFill>
                  <a:srgbClr val="000000"/>
                </a:solidFill>
                <a:latin typeface="Nunito"/>
                <a:ea typeface="Nunito"/>
                <a:cs typeface="Nunito"/>
                <a:sym typeface="Nunito"/>
              </a:rPr>
              <a:t>(Fully Furnished, Semi-Furnished, Unfurnished) into numerical values.</a:t>
            </a:r>
            <a:endParaRPr sz="1400">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t/>
            </a:r>
            <a:endParaRPr sz="1400">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rPr b="1" lang="en-GB" sz="1800">
                <a:solidFill>
                  <a:schemeClr val="lt1"/>
                </a:solidFill>
                <a:latin typeface="Nunito"/>
                <a:ea typeface="Nunito"/>
                <a:cs typeface="Nunito"/>
                <a:sym typeface="Nunito"/>
              </a:rPr>
              <a:t>Data Standardization</a:t>
            </a:r>
            <a:endParaRPr b="1" sz="1800">
              <a:solidFill>
                <a:schemeClr val="lt1"/>
              </a:solidFill>
              <a:latin typeface="Nunito"/>
              <a:ea typeface="Nunito"/>
              <a:cs typeface="Nunito"/>
              <a:sym typeface="Nunito"/>
            </a:endParaRPr>
          </a:p>
          <a:p>
            <a:pPr indent="0" lvl="0" marL="0" rtl="0" algn="l">
              <a:spcBef>
                <a:spcPts val="0"/>
              </a:spcBef>
              <a:spcAft>
                <a:spcPts val="0"/>
              </a:spcAft>
              <a:buNone/>
            </a:pPr>
            <a:r>
              <a:rPr b="1" lang="en-GB" sz="1400">
                <a:solidFill>
                  <a:srgbClr val="000000"/>
                </a:solidFill>
              </a:rPr>
              <a:t>Scaling Numeric Features:   </a:t>
            </a:r>
            <a:r>
              <a:rPr lang="en-GB" sz="1400">
                <a:solidFill>
                  <a:srgbClr val="000000"/>
                </a:solidFill>
              </a:rPr>
              <a:t>Standardize numerical features e.g : Area, Bedrooms, Parking.</a:t>
            </a:r>
            <a:endParaRPr sz="1400">
              <a:solidFill>
                <a:srgbClr val="000000"/>
              </a:solidFill>
            </a:endParaRPr>
          </a:p>
          <a:p>
            <a:pPr indent="0" lvl="0" marL="0" rtl="0" algn="l">
              <a:spcBef>
                <a:spcPts val="1200"/>
              </a:spcBef>
              <a:spcAft>
                <a:spcPts val="1200"/>
              </a:spcAft>
              <a:buNone/>
            </a:pPr>
            <a:r>
              <a:rPr lang="en-GB" sz="1400">
                <a:solidFill>
                  <a:srgbClr val="000000"/>
                </a:solidFill>
              </a:rPr>
              <a:t>                                                    Use Min-Max Scaling or Standardization.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390550" y="382225"/>
            <a:ext cx="8168100" cy="50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Data Encoding and Data </a:t>
            </a:r>
            <a:r>
              <a:rPr b="1" lang="en-GB" sz="1800"/>
              <a:t>Standardization</a:t>
            </a:r>
            <a:endParaRPr b="1" sz="1800"/>
          </a:p>
        </p:txBody>
      </p:sp>
      <p:sp>
        <p:nvSpPr>
          <p:cNvPr id="200" name="Google Shape;200;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1" name="Google Shape;201;p24"/>
          <p:cNvPicPr preferRelativeResize="0"/>
          <p:nvPr/>
        </p:nvPicPr>
        <p:blipFill rotWithShape="1">
          <a:blip r:embed="rId3">
            <a:alphaModFix/>
          </a:blip>
          <a:srcRect b="0" l="0" r="0" t="-5318"/>
          <a:stretch/>
        </p:blipFill>
        <p:spPr>
          <a:xfrm>
            <a:off x="390550" y="808125"/>
            <a:ext cx="8044152" cy="38773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5"/>
          <p:cNvSpPr txBox="1"/>
          <p:nvPr>
            <p:ph type="title"/>
          </p:nvPr>
        </p:nvSpPr>
        <p:spPr>
          <a:xfrm>
            <a:off x="819150" y="673050"/>
            <a:ext cx="7505700" cy="44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1800"/>
              <a:t>Exploratory Data Analysis </a:t>
            </a:r>
            <a:endParaRPr b="1" sz="1800"/>
          </a:p>
        </p:txBody>
      </p:sp>
      <p:sp>
        <p:nvSpPr>
          <p:cNvPr id="207" name="Google Shape;207;p25"/>
          <p:cNvSpPr txBox="1"/>
          <p:nvPr>
            <p:ph idx="1" type="body"/>
          </p:nvPr>
        </p:nvSpPr>
        <p:spPr>
          <a:xfrm>
            <a:off x="819150" y="1263025"/>
            <a:ext cx="7892400" cy="317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latin typeface="Nunito"/>
                <a:ea typeface="Nunito"/>
                <a:cs typeface="Nunito"/>
                <a:sym typeface="Nunito"/>
              </a:rPr>
              <a:t>Exploratory Data Analysis (EDA) is the process of analyzing and visualizing data distributions, identifying patterns, detecting outliers, and investigating relationships between features to uncover key insights. It prepares the data for predictive modeling by identifying influential features, understanding feature correlations, and ensuring data quality for accurate analysis and model performance.</a:t>
            </a:r>
            <a:endParaRPr sz="1400">
              <a:latin typeface="Nunito"/>
              <a:ea typeface="Nunito"/>
              <a:cs typeface="Nunito"/>
              <a:sym typeface="Nunito"/>
            </a:endParaRPr>
          </a:p>
          <a:p>
            <a:pPr indent="0" lvl="0" marL="0" rtl="0" algn="l">
              <a:spcBef>
                <a:spcPts val="1200"/>
              </a:spcBef>
              <a:spcAft>
                <a:spcPts val="1200"/>
              </a:spcAft>
              <a:buNone/>
            </a:pPr>
            <a:r>
              <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819150" y="427825"/>
            <a:ext cx="7505700" cy="52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Data Distributions</a:t>
            </a:r>
            <a:endParaRPr b="1" sz="1800"/>
          </a:p>
        </p:txBody>
      </p:sp>
      <p:sp>
        <p:nvSpPr>
          <p:cNvPr id="213" name="Google Shape;213;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4" name="Google Shape;214;p26"/>
          <p:cNvPicPr preferRelativeResize="0"/>
          <p:nvPr/>
        </p:nvPicPr>
        <p:blipFill>
          <a:blip r:embed="rId3">
            <a:alphaModFix/>
          </a:blip>
          <a:stretch>
            <a:fillRect/>
          </a:stretch>
        </p:blipFill>
        <p:spPr>
          <a:xfrm>
            <a:off x="370700" y="871150"/>
            <a:ext cx="8072049" cy="40519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426300" y="389800"/>
            <a:ext cx="7898400" cy="4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Box plots </a:t>
            </a:r>
            <a:endParaRPr b="1" sz="1800"/>
          </a:p>
        </p:txBody>
      </p:sp>
      <p:sp>
        <p:nvSpPr>
          <p:cNvPr id="220" name="Google Shape;220;p2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1" name="Google Shape;221;p27"/>
          <p:cNvPicPr preferRelativeResize="0"/>
          <p:nvPr/>
        </p:nvPicPr>
        <p:blipFill>
          <a:blip r:embed="rId3">
            <a:alphaModFix/>
          </a:blip>
          <a:stretch>
            <a:fillRect/>
          </a:stretch>
        </p:blipFill>
        <p:spPr>
          <a:xfrm>
            <a:off x="366100" y="797800"/>
            <a:ext cx="8197535" cy="4038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819150" y="275725"/>
            <a:ext cx="7505700" cy="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Box plots of numerical data for outliers </a:t>
            </a:r>
            <a:endParaRPr b="1" sz="1800"/>
          </a:p>
        </p:txBody>
      </p:sp>
      <p:sp>
        <p:nvSpPr>
          <p:cNvPr id="227" name="Google Shape;227;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8" name="Google Shape;228;p28"/>
          <p:cNvPicPr preferRelativeResize="0"/>
          <p:nvPr/>
        </p:nvPicPr>
        <p:blipFill>
          <a:blip r:embed="rId3">
            <a:alphaModFix/>
          </a:blip>
          <a:stretch>
            <a:fillRect/>
          </a:stretch>
        </p:blipFill>
        <p:spPr>
          <a:xfrm>
            <a:off x="819150" y="767000"/>
            <a:ext cx="7505699" cy="3877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819150" y="427825"/>
            <a:ext cx="7505700" cy="48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Outlier Removal</a:t>
            </a:r>
            <a:endParaRPr b="1" sz="1800"/>
          </a:p>
        </p:txBody>
      </p:sp>
      <p:sp>
        <p:nvSpPr>
          <p:cNvPr id="234" name="Google Shape;234;p2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5" name="Google Shape;235;p29"/>
          <p:cNvPicPr preferRelativeResize="0"/>
          <p:nvPr/>
        </p:nvPicPr>
        <p:blipFill>
          <a:blip r:embed="rId3">
            <a:alphaModFix/>
          </a:blip>
          <a:stretch>
            <a:fillRect/>
          </a:stretch>
        </p:blipFill>
        <p:spPr>
          <a:xfrm>
            <a:off x="562494" y="1130650"/>
            <a:ext cx="7222256" cy="3308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41" name="Google Shape;241;p3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2" name="Google Shape;242;p30"/>
          <p:cNvPicPr preferRelativeResize="0"/>
          <p:nvPr/>
        </p:nvPicPr>
        <p:blipFill>
          <a:blip r:embed="rId3">
            <a:alphaModFix/>
          </a:blip>
          <a:stretch>
            <a:fillRect/>
          </a:stretch>
        </p:blipFill>
        <p:spPr>
          <a:xfrm>
            <a:off x="40100" y="185350"/>
            <a:ext cx="9103898" cy="4698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819150" y="1695975"/>
            <a:ext cx="7734900" cy="286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00">
                <a:solidFill>
                  <a:srgbClr val="000000"/>
                </a:solidFill>
              </a:rPr>
              <a:t>Data Transformation</a:t>
            </a:r>
            <a:r>
              <a:rPr lang="en-GB" sz="1400">
                <a:solidFill>
                  <a:srgbClr val="000000"/>
                </a:solidFill>
              </a:rPr>
              <a:t> is the process of converting data from its original format or scale into a more suitable form for analysis. This can involve normalizing, scaling, or transforming variables to meet the assumptions of statistical models or to improve the interpretability of data</a:t>
            </a:r>
            <a:r>
              <a:rPr lang="en-GB"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p:txBody>
      </p:sp>
      <p:sp>
        <p:nvSpPr>
          <p:cNvPr id="248" name="Google Shape;248;p31"/>
          <p:cNvSpPr txBox="1"/>
          <p:nvPr>
            <p:ph idx="1" type="body"/>
          </p:nvPr>
        </p:nvSpPr>
        <p:spPr>
          <a:xfrm>
            <a:off x="872475" y="1085000"/>
            <a:ext cx="7286100" cy="477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GB" sz="1800">
                <a:solidFill>
                  <a:schemeClr val="lt1"/>
                </a:solidFill>
                <a:latin typeface="Nunito"/>
                <a:ea typeface="Nunito"/>
                <a:cs typeface="Nunito"/>
                <a:sym typeface="Nunito"/>
              </a:rPr>
              <a:t>Data Transformation</a:t>
            </a:r>
            <a:endParaRPr b="1" sz="1800">
              <a:solidFill>
                <a:schemeClr val="lt1"/>
              </a:solidFill>
              <a:latin typeface="Nunito"/>
              <a:ea typeface="Nunito"/>
              <a:cs typeface="Nunito"/>
              <a:sym typeface="Nunito"/>
            </a:endParaRPr>
          </a:p>
          <a:p>
            <a:pPr indent="0" lvl="0" marL="0" rtl="0" algn="l">
              <a:spcBef>
                <a:spcPts val="0"/>
              </a:spcBef>
              <a:spcAft>
                <a:spcPts val="1200"/>
              </a:spcAft>
              <a:buNone/>
            </a:pPr>
            <a:r>
              <a:t/>
            </a:r>
            <a:endParaRPr b="1"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54" name="Google Shape;254;p3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5" name="Google Shape;255;p32"/>
          <p:cNvPicPr preferRelativeResize="0"/>
          <p:nvPr/>
        </p:nvPicPr>
        <p:blipFill>
          <a:blip r:embed="rId3">
            <a:alphaModFix/>
          </a:blip>
          <a:stretch>
            <a:fillRect/>
          </a:stretch>
        </p:blipFill>
        <p:spPr>
          <a:xfrm>
            <a:off x="131375" y="66475"/>
            <a:ext cx="8809502" cy="50770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Regression Techniques : </a:t>
            </a:r>
            <a:endParaRPr b="1" sz="1800"/>
          </a:p>
        </p:txBody>
      </p:sp>
      <p:sp>
        <p:nvSpPr>
          <p:cNvPr id="261" name="Google Shape;261;p33"/>
          <p:cNvSpPr txBox="1"/>
          <p:nvPr>
            <p:ph idx="1" type="body"/>
          </p:nvPr>
        </p:nvSpPr>
        <p:spPr>
          <a:xfrm>
            <a:off x="819150" y="1343800"/>
            <a:ext cx="7855200" cy="30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solidFill>
                  <a:srgbClr val="0E0E0E"/>
                </a:solidFill>
                <a:latin typeface="Arial"/>
                <a:ea typeface="Arial"/>
                <a:cs typeface="Arial"/>
                <a:sym typeface="Arial"/>
              </a:rPr>
              <a:t>Types of Regression Techniques</a:t>
            </a:r>
            <a:endParaRPr b="1" sz="1400">
              <a:solidFill>
                <a:srgbClr val="0E0E0E"/>
              </a:solidFill>
              <a:latin typeface="Arial"/>
              <a:ea typeface="Arial"/>
              <a:cs typeface="Arial"/>
              <a:sym typeface="Arial"/>
            </a:endParaRPr>
          </a:p>
          <a:p>
            <a:pPr indent="-127000" lvl="0" marL="127000" rtl="0" algn="l">
              <a:spcBef>
                <a:spcPts val="900"/>
              </a:spcBef>
              <a:spcAft>
                <a:spcPts val="0"/>
              </a:spcAft>
              <a:buNone/>
            </a:pPr>
            <a:r>
              <a:rPr lang="en-GB" sz="1400">
                <a:solidFill>
                  <a:srgbClr val="0E0E0E"/>
                </a:solidFill>
                <a:latin typeface="Arial"/>
                <a:ea typeface="Arial"/>
                <a:cs typeface="Arial"/>
                <a:sym typeface="Arial"/>
              </a:rPr>
              <a:t>	&gt;&gt;	</a:t>
            </a:r>
            <a:r>
              <a:rPr b="1" lang="en-GB" sz="1400">
                <a:solidFill>
                  <a:srgbClr val="0E0E0E"/>
                </a:solidFill>
                <a:latin typeface="Arial"/>
                <a:ea typeface="Arial"/>
                <a:cs typeface="Arial"/>
                <a:sym typeface="Arial"/>
              </a:rPr>
              <a:t>Simple Regression</a:t>
            </a:r>
            <a:r>
              <a:rPr lang="en-GB" sz="1400">
                <a:solidFill>
                  <a:srgbClr val="0E0E0E"/>
                </a:solidFill>
                <a:latin typeface="Arial"/>
                <a:ea typeface="Arial"/>
                <a:cs typeface="Arial"/>
                <a:sym typeface="Arial"/>
              </a:rPr>
              <a:t>: Finds a straight-line relationship between input and output.</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lang="en-GB" sz="1400">
                <a:solidFill>
                  <a:srgbClr val="0E0E0E"/>
                </a:solidFill>
                <a:latin typeface="Arial"/>
                <a:ea typeface="Arial"/>
                <a:cs typeface="Arial"/>
                <a:sym typeface="Arial"/>
              </a:rPr>
              <a:t>	&gt;&gt;	</a:t>
            </a:r>
            <a:r>
              <a:rPr b="1" lang="en-GB" sz="1400">
                <a:solidFill>
                  <a:srgbClr val="0E0E0E"/>
                </a:solidFill>
                <a:latin typeface="Arial"/>
                <a:ea typeface="Arial"/>
                <a:cs typeface="Arial"/>
                <a:sym typeface="Arial"/>
              </a:rPr>
              <a:t>Multiple Linear Regression</a:t>
            </a:r>
            <a:r>
              <a:rPr lang="en-GB" sz="1400">
                <a:solidFill>
                  <a:srgbClr val="0E0E0E"/>
                </a:solidFill>
                <a:latin typeface="Arial"/>
                <a:ea typeface="Arial"/>
                <a:cs typeface="Arial"/>
                <a:sym typeface="Arial"/>
              </a:rPr>
              <a:t>: Uses several features to predict an outcome.</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lang="en-GB" sz="1400">
                <a:solidFill>
                  <a:srgbClr val="0E0E0E"/>
                </a:solidFill>
                <a:latin typeface="Arial"/>
                <a:ea typeface="Arial"/>
                <a:cs typeface="Arial"/>
                <a:sym typeface="Arial"/>
              </a:rPr>
              <a:t>   </a:t>
            </a:r>
            <a:r>
              <a:rPr lang="en-GB" sz="1400">
                <a:solidFill>
                  <a:srgbClr val="0E0E0E"/>
                </a:solidFill>
                <a:latin typeface="Arial"/>
                <a:ea typeface="Arial"/>
                <a:cs typeface="Arial"/>
                <a:sym typeface="Arial"/>
              </a:rPr>
              <a:t>&gt;&gt;	</a:t>
            </a:r>
            <a:r>
              <a:rPr b="1" lang="en-GB" sz="1400">
                <a:solidFill>
                  <a:srgbClr val="0E0E0E"/>
                </a:solidFill>
                <a:latin typeface="Arial"/>
                <a:ea typeface="Arial"/>
                <a:cs typeface="Arial"/>
                <a:sym typeface="Arial"/>
              </a:rPr>
              <a:t>Quadratic Regression</a:t>
            </a:r>
            <a:r>
              <a:rPr lang="en-GB" sz="1400">
                <a:solidFill>
                  <a:srgbClr val="0E0E0E"/>
                </a:solidFill>
                <a:latin typeface="Arial"/>
                <a:ea typeface="Arial"/>
                <a:cs typeface="Arial"/>
                <a:sym typeface="Arial"/>
              </a:rPr>
              <a:t>: A type of polynomial regression that fits data to a parabolic  curve</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lang="en-GB" sz="1400">
                <a:solidFill>
                  <a:srgbClr val="0E0E0E"/>
                </a:solidFill>
                <a:latin typeface="Arial"/>
                <a:ea typeface="Arial"/>
                <a:cs typeface="Arial"/>
                <a:sym typeface="Arial"/>
              </a:rPr>
              <a:t>	&gt;&gt;	</a:t>
            </a:r>
            <a:r>
              <a:rPr b="1" lang="en-GB" sz="1400">
                <a:solidFill>
                  <a:srgbClr val="0E0E0E"/>
                </a:solidFill>
                <a:latin typeface="Arial"/>
                <a:ea typeface="Arial"/>
                <a:cs typeface="Arial"/>
                <a:sym typeface="Arial"/>
              </a:rPr>
              <a:t>Polynomial Regression</a:t>
            </a:r>
            <a:r>
              <a:rPr lang="en-GB" sz="1400">
                <a:solidFill>
                  <a:srgbClr val="0E0E0E"/>
                </a:solidFill>
                <a:latin typeface="Arial"/>
                <a:ea typeface="Arial"/>
                <a:cs typeface="Arial"/>
                <a:sym typeface="Arial"/>
              </a:rPr>
              <a:t>: Captures curved relationships by adding powers of features.</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lang="en-GB" sz="1400">
                <a:solidFill>
                  <a:srgbClr val="0E0E0E"/>
                </a:solidFill>
                <a:latin typeface="Arial"/>
                <a:ea typeface="Arial"/>
                <a:cs typeface="Arial"/>
                <a:sym typeface="Arial"/>
              </a:rPr>
              <a:t>	&gt;&gt;	</a:t>
            </a:r>
            <a:r>
              <a:rPr b="1" lang="en-GB" sz="1400">
                <a:solidFill>
                  <a:srgbClr val="0E0E0E"/>
                </a:solidFill>
                <a:latin typeface="Arial"/>
                <a:ea typeface="Arial"/>
                <a:cs typeface="Arial"/>
                <a:sym typeface="Arial"/>
              </a:rPr>
              <a:t>Ridge &amp; Lasso Regression</a:t>
            </a:r>
            <a:r>
              <a:rPr lang="en-GB" sz="1400">
                <a:solidFill>
                  <a:srgbClr val="0E0E0E"/>
                </a:solidFill>
                <a:latin typeface="Arial"/>
                <a:ea typeface="Arial"/>
                <a:cs typeface="Arial"/>
                <a:sym typeface="Arial"/>
              </a:rPr>
              <a:t>: Adds penalties to reduce complexity; Lasso also performs feature selection.</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lang="en-GB" sz="1400">
                <a:solidFill>
                  <a:srgbClr val="0E0E0E"/>
                </a:solidFill>
                <a:latin typeface="Arial"/>
                <a:ea typeface="Arial"/>
                <a:cs typeface="Arial"/>
                <a:sym typeface="Arial"/>
              </a:rPr>
              <a:t>	</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t/>
            </a:r>
            <a:endParaRPr sz="1400">
              <a:solidFill>
                <a:srgbClr val="0E0E0E"/>
              </a:solidFill>
              <a:latin typeface="Arial"/>
              <a:ea typeface="Arial"/>
              <a:cs typeface="Arial"/>
              <a:sym typeface="Arial"/>
            </a:endParaRPr>
          </a:p>
          <a:p>
            <a:pPr indent="0" lvl="0" marL="0" rtl="0" algn="l">
              <a:spcBef>
                <a:spcPts val="0"/>
              </a:spcBef>
              <a:spcAft>
                <a:spcPts val="1200"/>
              </a:spcAft>
              <a:buNone/>
            </a:pPr>
            <a:r>
              <a:t/>
            </a:r>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819150" y="463375"/>
            <a:ext cx="7197600" cy="4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800"/>
              <a:t>Simple linear Regression</a:t>
            </a:r>
            <a:endParaRPr sz="1800"/>
          </a:p>
        </p:txBody>
      </p:sp>
      <p:sp>
        <p:nvSpPr>
          <p:cNvPr id="267" name="Google Shape;267;p34"/>
          <p:cNvSpPr txBox="1"/>
          <p:nvPr>
            <p:ph idx="1" type="body"/>
          </p:nvPr>
        </p:nvSpPr>
        <p:spPr>
          <a:xfrm>
            <a:off x="819150" y="945175"/>
            <a:ext cx="7818300" cy="36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solidFill>
                  <a:srgbClr val="0E0E0E"/>
                </a:solidFill>
                <a:latin typeface="Arial"/>
                <a:ea typeface="Arial"/>
                <a:cs typeface="Arial"/>
                <a:sym typeface="Arial"/>
              </a:rPr>
              <a:t>Simple Linear Regression</a:t>
            </a:r>
            <a:r>
              <a:rPr lang="en-GB" sz="1400">
                <a:solidFill>
                  <a:srgbClr val="0E0E0E"/>
                </a:solidFill>
                <a:latin typeface="Arial"/>
                <a:ea typeface="Arial"/>
                <a:cs typeface="Arial"/>
                <a:sym typeface="Arial"/>
              </a:rPr>
              <a:t> is a basic statistical method used to model the relationship between two variables:</a:t>
            </a:r>
            <a:endParaRPr sz="1400">
              <a:solidFill>
                <a:srgbClr val="0E0E0E"/>
              </a:solidFill>
              <a:latin typeface="Arial"/>
              <a:ea typeface="Arial"/>
              <a:cs typeface="Arial"/>
              <a:sym typeface="Arial"/>
            </a:endParaRPr>
          </a:p>
          <a:p>
            <a:pPr indent="-317500" lvl="0" marL="457200" rtl="0" algn="just">
              <a:spcBef>
                <a:spcPts val="900"/>
              </a:spcBef>
              <a:spcAft>
                <a:spcPts val="0"/>
              </a:spcAft>
              <a:buClr>
                <a:srgbClr val="0E0E0E"/>
              </a:buClr>
              <a:buSzPts val="1400"/>
              <a:buFont typeface="Arial"/>
              <a:buChar char="●"/>
            </a:pPr>
            <a:r>
              <a:rPr b="1" lang="en-GB" sz="1400">
                <a:solidFill>
                  <a:srgbClr val="0E0E0E"/>
                </a:solidFill>
                <a:latin typeface="Arial"/>
                <a:ea typeface="Arial"/>
                <a:cs typeface="Arial"/>
                <a:sym typeface="Arial"/>
              </a:rPr>
              <a:t>One predictor (independent variable)</a:t>
            </a:r>
            <a:r>
              <a:rPr lang="en-GB" sz="1400">
                <a:solidFill>
                  <a:srgbClr val="0E0E0E"/>
                </a:solidFill>
                <a:latin typeface="Arial"/>
                <a:ea typeface="Arial"/>
                <a:cs typeface="Arial"/>
                <a:sym typeface="Arial"/>
              </a:rPr>
              <a:t>: This is the variable that we believe might explain or influence    the outcome(e.g area).</a:t>
            </a:r>
            <a:endParaRPr sz="1400">
              <a:solidFill>
                <a:srgbClr val="0E0E0E"/>
              </a:solidFill>
              <a:latin typeface="Arial"/>
              <a:ea typeface="Arial"/>
              <a:cs typeface="Arial"/>
              <a:sym typeface="Arial"/>
            </a:endParaRPr>
          </a:p>
          <a:p>
            <a:pPr indent="-317500" lvl="0" marL="457200" rtl="0" algn="l">
              <a:spcBef>
                <a:spcPts val="0"/>
              </a:spcBef>
              <a:spcAft>
                <a:spcPts val="0"/>
              </a:spcAft>
              <a:buClr>
                <a:srgbClr val="0E0E0E"/>
              </a:buClr>
              <a:buSzPts val="1400"/>
              <a:buFont typeface="Arial"/>
              <a:buChar char="●"/>
            </a:pPr>
            <a:r>
              <a:rPr b="1" lang="en-GB" sz="1400">
                <a:solidFill>
                  <a:srgbClr val="0E0E0E"/>
                </a:solidFill>
                <a:latin typeface="Arial"/>
                <a:ea typeface="Arial"/>
                <a:cs typeface="Arial"/>
                <a:sym typeface="Arial"/>
              </a:rPr>
              <a:t>One target (dependent variable)</a:t>
            </a:r>
            <a:r>
              <a:rPr lang="en-GB" sz="1400">
                <a:solidFill>
                  <a:srgbClr val="0E0E0E"/>
                </a:solidFill>
                <a:latin typeface="Arial"/>
                <a:ea typeface="Arial"/>
                <a:cs typeface="Arial"/>
                <a:sym typeface="Arial"/>
              </a:rPr>
              <a:t>: This is the outcome we want to predict or understand (e.g:price).</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b="1" lang="en-GB" sz="1400">
                <a:solidFill>
                  <a:srgbClr val="0E0E0E"/>
                </a:solidFill>
                <a:latin typeface="Arial"/>
                <a:ea typeface="Arial"/>
                <a:cs typeface="Arial"/>
                <a:sym typeface="Arial"/>
              </a:rPr>
              <a:t>Purpose</a:t>
            </a:r>
            <a:r>
              <a:rPr lang="en-GB" sz="1400">
                <a:solidFill>
                  <a:srgbClr val="0E0E0E"/>
                </a:solidFill>
                <a:latin typeface="Arial"/>
                <a:ea typeface="Arial"/>
                <a:cs typeface="Arial"/>
                <a:sym typeface="Arial"/>
              </a:rPr>
              <a:t>:  Predicts house price based on a single factor - area.</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b="1" lang="en-GB" sz="1400">
                <a:solidFill>
                  <a:srgbClr val="0E0E0E"/>
                </a:solidFill>
                <a:latin typeface="Arial"/>
                <a:ea typeface="Arial"/>
                <a:cs typeface="Arial"/>
                <a:sym typeface="Arial"/>
              </a:rPr>
              <a:t>Limitations</a:t>
            </a:r>
            <a:r>
              <a:rPr lang="en-GB" sz="1400">
                <a:solidFill>
                  <a:srgbClr val="0E0E0E"/>
                </a:solidFill>
                <a:latin typeface="Arial"/>
                <a:ea typeface="Arial"/>
                <a:cs typeface="Arial"/>
                <a:sym typeface="Arial"/>
              </a:rPr>
              <a:t>: Only considers one predictor (area); other factors ex: bathrooms, parking are ignored.May not capture complex relationships in data where multiple features impact price.</a:t>
            </a:r>
            <a:endParaRPr sz="1400">
              <a:solidFill>
                <a:srgbClr val="0E0E0E"/>
              </a:solidFill>
              <a:latin typeface="Arial"/>
              <a:ea typeface="Arial"/>
              <a:cs typeface="Arial"/>
              <a:sym typeface="Arial"/>
            </a:endParaRPr>
          </a:p>
          <a:p>
            <a:pPr indent="-127000" lvl="0" marL="127000" rtl="0" algn="l">
              <a:spcBef>
                <a:spcPts val="900"/>
              </a:spcBef>
              <a:spcAft>
                <a:spcPts val="0"/>
              </a:spcAft>
              <a:buNone/>
            </a:pPr>
            <a:r>
              <a:rPr b="1" lang="en-GB" sz="1400">
                <a:solidFill>
                  <a:srgbClr val="0E0E0E"/>
                </a:solidFill>
                <a:latin typeface="Arial"/>
                <a:ea typeface="Arial"/>
                <a:cs typeface="Arial"/>
                <a:sym typeface="Arial"/>
              </a:rPr>
              <a:t>Use Case</a:t>
            </a:r>
            <a:r>
              <a:rPr lang="en-GB" sz="1400">
                <a:solidFill>
                  <a:srgbClr val="0E0E0E"/>
                </a:solidFill>
                <a:latin typeface="Arial"/>
                <a:ea typeface="Arial"/>
                <a:cs typeface="Arial"/>
                <a:sym typeface="Arial"/>
              </a:rPr>
              <a:t>: Good for understanding the direct impact of area on price but limited for full price prediction.</a:t>
            </a:r>
            <a:endParaRPr sz="1400">
              <a:solidFill>
                <a:srgbClr val="0E0E0E"/>
              </a:solidFill>
              <a:latin typeface="Arial"/>
              <a:ea typeface="Arial"/>
              <a:cs typeface="Arial"/>
              <a:sym typeface="Arial"/>
            </a:endParaRPr>
          </a:p>
          <a:p>
            <a:pPr indent="0" lvl="0" marL="457200" rtl="0" algn="l">
              <a:spcBef>
                <a:spcPts val="900"/>
              </a:spcBef>
              <a:spcAft>
                <a:spcPts val="0"/>
              </a:spcAft>
              <a:buNone/>
            </a:pPr>
            <a:r>
              <a:t/>
            </a:r>
            <a:endParaRPr sz="1400">
              <a:solidFill>
                <a:srgbClr val="0E0E0E"/>
              </a:solidFill>
              <a:latin typeface="Arial"/>
              <a:ea typeface="Arial"/>
              <a:cs typeface="Arial"/>
              <a:sym typeface="Arial"/>
            </a:endParaRPr>
          </a:p>
          <a:p>
            <a:pPr indent="0" lvl="0" marL="0" rtl="0" algn="l">
              <a:spcBef>
                <a:spcPts val="0"/>
              </a:spcBef>
              <a:spcAft>
                <a:spcPts val="1200"/>
              </a:spcAft>
              <a:buNone/>
            </a:pPr>
            <a:r>
              <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620925" y="824825"/>
            <a:ext cx="7704000" cy="9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Multiple Linear Regression</a:t>
            </a:r>
            <a:endParaRPr b="1" sz="1800"/>
          </a:p>
          <a:p>
            <a:pPr indent="0" lvl="0" marL="0" rtl="0" algn="l">
              <a:spcBef>
                <a:spcPts val="0"/>
              </a:spcBef>
              <a:spcAft>
                <a:spcPts val="0"/>
              </a:spcAft>
              <a:buNone/>
            </a:pPr>
            <a:r>
              <a:t/>
            </a:r>
            <a:endParaRPr/>
          </a:p>
        </p:txBody>
      </p:sp>
      <p:sp>
        <p:nvSpPr>
          <p:cNvPr id="273" name="Google Shape;273;p35"/>
          <p:cNvSpPr txBox="1"/>
          <p:nvPr>
            <p:ph idx="1" type="body"/>
          </p:nvPr>
        </p:nvSpPr>
        <p:spPr>
          <a:xfrm>
            <a:off x="620925" y="1380875"/>
            <a:ext cx="8174100" cy="307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00">
                <a:solidFill>
                  <a:srgbClr val="0E0E0E"/>
                </a:solidFill>
                <a:latin typeface="Arial"/>
                <a:ea typeface="Arial"/>
                <a:cs typeface="Arial"/>
                <a:sym typeface="Arial"/>
              </a:rPr>
              <a:t>Purpose of Multiple Regression</a:t>
            </a:r>
            <a:endParaRPr b="1" sz="1400">
              <a:solidFill>
                <a:srgbClr val="0E0E0E"/>
              </a:solidFill>
              <a:latin typeface="Arial"/>
              <a:ea typeface="Arial"/>
              <a:cs typeface="Arial"/>
              <a:sym typeface="Arial"/>
            </a:endParaRPr>
          </a:p>
          <a:p>
            <a:pPr indent="0" lvl="0" marL="457200" rtl="0" algn="l">
              <a:spcBef>
                <a:spcPts val="900"/>
              </a:spcBef>
              <a:spcAft>
                <a:spcPts val="0"/>
              </a:spcAft>
              <a:buNone/>
            </a:pPr>
            <a:r>
              <a:rPr b="1" lang="en-GB" sz="1400">
                <a:solidFill>
                  <a:srgbClr val="0E0E0E"/>
                </a:solidFill>
                <a:latin typeface="Arial"/>
                <a:ea typeface="Arial"/>
                <a:cs typeface="Arial"/>
                <a:sym typeface="Arial"/>
              </a:rPr>
              <a:t>Predicting with Multiple Factors</a:t>
            </a:r>
            <a:r>
              <a:rPr lang="en-GB" sz="1400">
                <a:solidFill>
                  <a:srgbClr val="0E0E0E"/>
                </a:solidFill>
                <a:latin typeface="Arial"/>
                <a:ea typeface="Arial"/>
                <a:cs typeface="Arial"/>
                <a:sym typeface="Arial"/>
              </a:rPr>
              <a:t>: Estimates an outcome (e.g., house price) by considering multiple features  together, like area, bedrooms, and bathrooms.</a:t>
            </a:r>
            <a:endParaRPr sz="1400">
              <a:solidFill>
                <a:srgbClr val="0E0E0E"/>
              </a:solidFill>
              <a:latin typeface="Arial"/>
              <a:ea typeface="Arial"/>
              <a:cs typeface="Arial"/>
              <a:sym typeface="Arial"/>
            </a:endParaRPr>
          </a:p>
          <a:p>
            <a:pPr indent="0" lvl="0" marL="457200" rtl="0" algn="l">
              <a:spcBef>
                <a:spcPts val="900"/>
              </a:spcBef>
              <a:spcAft>
                <a:spcPts val="0"/>
              </a:spcAft>
              <a:buNone/>
            </a:pPr>
            <a:r>
              <a:rPr b="1" lang="en-GB" sz="1400">
                <a:solidFill>
                  <a:srgbClr val="0E0E0E"/>
                </a:solidFill>
                <a:latin typeface="Arial"/>
                <a:ea typeface="Arial"/>
                <a:cs typeface="Arial"/>
                <a:sym typeface="Arial"/>
              </a:rPr>
              <a:t>Isolates Each Factor’s Effect</a:t>
            </a:r>
            <a:r>
              <a:rPr lang="en-GB" sz="1400">
                <a:solidFill>
                  <a:srgbClr val="0E0E0E"/>
                </a:solidFill>
                <a:latin typeface="Arial"/>
                <a:ea typeface="Arial"/>
                <a:cs typeface="Arial"/>
                <a:sym typeface="Arial"/>
              </a:rPr>
              <a:t>: Measures how each predictor impacts the outcome while keeping other predictors constant.</a:t>
            </a:r>
            <a:endParaRPr sz="1400">
              <a:solidFill>
                <a:srgbClr val="0E0E0E"/>
              </a:solidFill>
              <a:latin typeface="Arial"/>
              <a:ea typeface="Arial"/>
              <a:cs typeface="Arial"/>
              <a:sym typeface="Arial"/>
            </a:endParaRPr>
          </a:p>
          <a:p>
            <a:pPr indent="0" lvl="0" marL="457200" rtl="0" algn="l">
              <a:spcBef>
                <a:spcPts val="900"/>
              </a:spcBef>
              <a:spcAft>
                <a:spcPts val="0"/>
              </a:spcAft>
              <a:buNone/>
            </a:pPr>
            <a:r>
              <a:rPr b="1" lang="en-GB" sz="1400">
                <a:solidFill>
                  <a:srgbClr val="0E0E0E"/>
                </a:solidFill>
                <a:latin typeface="Arial"/>
                <a:ea typeface="Arial"/>
                <a:cs typeface="Arial"/>
                <a:sym typeface="Arial"/>
              </a:rPr>
              <a:t>Creates a Combined Formula</a:t>
            </a:r>
            <a:r>
              <a:rPr lang="en-GB" sz="1400">
                <a:solidFill>
                  <a:srgbClr val="0E0E0E"/>
                </a:solidFill>
                <a:latin typeface="Arial"/>
                <a:ea typeface="Arial"/>
                <a:cs typeface="Arial"/>
                <a:sym typeface="Arial"/>
              </a:rPr>
              <a:t>: Uses a formula with coefficients for each predictor, showing their importance in predicting the outcome.</a:t>
            </a:r>
            <a:endParaRPr sz="1400">
              <a:solidFill>
                <a:srgbClr val="0E0E0E"/>
              </a:solidFill>
              <a:latin typeface="Arial"/>
              <a:ea typeface="Arial"/>
              <a:cs typeface="Arial"/>
              <a:sym typeface="Arial"/>
            </a:endParaRPr>
          </a:p>
          <a:p>
            <a:pPr indent="0" lvl="0" marL="457200" rtl="0" algn="l">
              <a:spcBef>
                <a:spcPts val="900"/>
              </a:spcBef>
              <a:spcAft>
                <a:spcPts val="0"/>
              </a:spcAft>
              <a:buNone/>
            </a:pPr>
            <a:r>
              <a:rPr b="1" lang="en-GB" sz="1400">
                <a:solidFill>
                  <a:srgbClr val="0E0E0E"/>
                </a:solidFill>
                <a:latin typeface="Arial"/>
                <a:ea typeface="Arial"/>
                <a:cs typeface="Arial"/>
                <a:sym typeface="Arial"/>
              </a:rPr>
              <a:t>Captures Complex Relationships</a:t>
            </a:r>
            <a:r>
              <a:rPr lang="en-GB" sz="1400">
                <a:solidFill>
                  <a:srgbClr val="0E0E0E"/>
                </a:solidFill>
                <a:latin typeface="Arial"/>
                <a:ea typeface="Arial"/>
                <a:cs typeface="Arial"/>
                <a:sym typeface="Arial"/>
              </a:rPr>
              <a:t>: Accounts for how factors may interact, giving a complete picture of what influences the outcome.</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type="title"/>
          </p:nvPr>
        </p:nvSpPr>
        <p:spPr>
          <a:xfrm>
            <a:off x="819150" y="389800"/>
            <a:ext cx="7505700" cy="61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Multiple Linear Regression</a:t>
            </a:r>
            <a:endParaRPr b="1" sz="1800"/>
          </a:p>
        </p:txBody>
      </p:sp>
      <p:sp>
        <p:nvSpPr>
          <p:cNvPr id="279" name="Google Shape;279;p3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0" name="Google Shape;280;p36"/>
          <p:cNvPicPr preferRelativeResize="0"/>
          <p:nvPr/>
        </p:nvPicPr>
        <p:blipFill>
          <a:blip r:embed="rId3">
            <a:alphaModFix/>
          </a:blip>
          <a:stretch>
            <a:fillRect/>
          </a:stretch>
        </p:blipFill>
        <p:spPr>
          <a:xfrm>
            <a:off x="1771675" y="1005400"/>
            <a:ext cx="5216575" cy="37973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type="title"/>
          </p:nvPr>
        </p:nvSpPr>
        <p:spPr>
          <a:xfrm>
            <a:off x="681375" y="256700"/>
            <a:ext cx="7643400" cy="88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Quadratic Regression</a:t>
            </a:r>
            <a:endParaRPr b="1" sz="1800"/>
          </a:p>
        </p:txBody>
      </p:sp>
      <p:sp>
        <p:nvSpPr>
          <p:cNvPr id="286" name="Google Shape;286;p3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7" name="Google Shape;287;p37"/>
          <p:cNvPicPr preferRelativeResize="0"/>
          <p:nvPr/>
        </p:nvPicPr>
        <p:blipFill>
          <a:blip r:embed="rId3">
            <a:alphaModFix/>
          </a:blip>
          <a:stretch>
            <a:fillRect/>
          </a:stretch>
        </p:blipFill>
        <p:spPr>
          <a:xfrm>
            <a:off x="1302400" y="863750"/>
            <a:ext cx="6405076" cy="38810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8"/>
          <p:cNvSpPr txBox="1"/>
          <p:nvPr>
            <p:ph type="title"/>
          </p:nvPr>
        </p:nvSpPr>
        <p:spPr>
          <a:xfrm>
            <a:off x="819150" y="323250"/>
            <a:ext cx="7505700" cy="62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Polynomial</a:t>
            </a:r>
            <a:r>
              <a:rPr b="1" lang="en-GB" sz="1800"/>
              <a:t> Regression</a:t>
            </a:r>
            <a:endParaRPr b="1" sz="1800"/>
          </a:p>
        </p:txBody>
      </p:sp>
      <p:sp>
        <p:nvSpPr>
          <p:cNvPr id="293" name="Google Shape;293;p3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4" name="Google Shape;294;p38"/>
          <p:cNvPicPr preferRelativeResize="0"/>
          <p:nvPr/>
        </p:nvPicPr>
        <p:blipFill>
          <a:blip r:embed="rId3">
            <a:alphaModFix/>
          </a:blip>
          <a:stretch>
            <a:fillRect/>
          </a:stretch>
        </p:blipFill>
        <p:spPr>
          <a:xfrm>
            <a:off x="1217650" y="779675"/>
            <a:ext cx="6548151" cy="39220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type="title"/>
          </p:nvPr>
        </p:nvSpPr>
        <p:spPr>
          <a:xfrm>
            <a:off x="819150" y="427825"/>
            <a:ext cx="7505700" cy="57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LASSO REGRESSION</a:t>
            </a:r>
            <a:endParaRPr b="1" sz="1800"/>
          </a:p>
        </p:txBody>
      </p:sp>
      <p:sp>
        <p:nvSpPr>
          <p:cNvPr id="300" name="Google Shape;300;p39"/>
          <p:cNvSpPr txBox="1"/>
          <p:nvPr>
            <p:ph idx="1" type="body"/>
          </p:nvPr>
        </p:nvSpPr>
        <p:spPr>
          <a:xfrm>
            <a:off x="819150" y="1412600"/>
            <a:ext cx="7505700" cy="3026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1" name="Google Shape;301;p39"/>
          <p:cNvPicPr preferRelativeResize="0"/>
          <p:nvPr/>
        </p:nvPicPr>
        <p:blipFill>
          <a:blip r:embed="rId3">
            <a:alphaModFix/>
          </a:blip>
          <a:stretch>
            <a:fillRect/>
          </a:stretch>
        </p:blipFill>
        <p:spPr>
          <a:xfrm>
            <a:off x="1234350" y="1154750"/>
            <a:ext cx="6920600" cy="3435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type="title"/>
          </p:nvPr>
        </p:nvSpPr>
        <p:spPr>
          <a:xfrm>
            <a:off x="819150" y="681375"/>
            <a:ext cx="7505700" cy="58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Ridge Regression </a:t>
            </a:r>
            <a:endParaRPr b="1" sz="1800"/>
          </a:p>
        </p:txBody>
      </p:sp>
      <p:sp>
        <p:nvSpPr>
          <p:cNvPr id="307" name="Google Shape;307;p40"/>
          <p:cNvSpPr txBox="1"/>
          <p:nvPr>
            <p:ph idx="1" type="body"/>
          </p:nvPr>
        </p:nvSpPr>
        <p:spPr>
          <a:xfrm>
            <a:off x="819150" y="1263075"/>
            <a:ext cx="7505700" cy="3175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8" name="Google Shape;308;p40"/>
          <p:cNvPicPr preferRelativeResize="0"/>
          <p:nvPr/>
        </p:nvPicPr>
        <p:blipFill>
          <a:blip r:embed="rId3">
            <a:alphaModFix/>
          </a:blip>
          <a:stretch>
            <a:fillRect/>
          </a:stretch>
        </p:blipFill>
        <p:spPr>
          <a:xfrm>
            <a:off x="819150" y="1096075"/>
            <a:ext cx="7505700" cy="3680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type="title"/>
          </p:nvPr>
        </p:nvSpPr>
        <p:spPr>
          <a:xfrm>
            <a:off x="624525" y="407775"/>
            <a:ext cx="7505700" cy="63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                                          </a:t>
            </a:r>
            <a:r>
              <a:rPr b="1" lang="en-GB" sz="1800"/>
              <a:t>Model Validation </a:t>
            </a:r>
            <a:endParaRPr b="1" sz="1800"/>
          </a:p>
        </p:txBody>
      </p:sp>
      <p:sp>
        <p:nvSpPr>
          <p:cNvPr id="314" name="Google Shape;314;p41"/>
          <p:cNvSpPr txBox="1"/>
          <p:nvPr>
            <p:ph idx="1" type="body"/>
          </p:nvPr>
        </p:nvSpPr>
        <p:spPr>
          <a:xfrm>
            <a:off x="819150" y="871150"/>
            <a:ext cx="7864500" cy="3901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400"/>
              <a:t>Model validation is all about ensuring our model is not just fitting the data well but is actually reliable when faced with new data. In this project, we used model validation techniques to evaluate each of our regression models—like Linear, Ridge, Lasso, and Quadratic Regression. The goal was to find the model that balanced accuracy with generalization, meaning it performed well both on our existing data and on unseen data.</a:t>
            </a:r>
            <a:endParaRPr sz="1400"/>
          </a:p>
          <a:p>
            <a:pPr indent="0" lvl="0" marL="0" rtl="0" algn="l">
              <a:spcBef>
                <a:spcPts val="1200"/>
              </a:spcBef>
              <a:spcAft>
                <a:spcPts val="0"/>
              </a:spcAft>
              <a:buNone/>
            </a:pPr>
            <a:r>
              <a:rPr lang="en-GB" sz="1400"/>
              <a:t>We used metrics like RMSE (Root Mean Squared Error) and R-squared to assess each model’s performance. RMSE helped us understand how far our model’s predictions were from the actual values on average, while R-squared showed us how much of the variation in our data was explained by the model. We combined these metrics with cross-validation, where we split the data into multiple sets and tested the model across them. This way, we were able to spot any model that performed well on the training data but failed on test data. By doing model validation, we gained insights into which model is the most robust and reliable for making predictions on new data.</a:t>
            </a:r>
            <a:endParaRPr sz="1400"/>
          </a:p>
          <a:p>
            <a:pPr indent="0" lvl="0" marL="0" rtl="0" algn="l">
              <a:spcBef>
                <a:spcPts val="1200"/>
              </a:spcBef>
              <a:spcAft>
                <a:spcPts val="0"/>
              </a:spcAft>
              <a:buNone/>
            </a:pPr>
            <a:r>
              <a:rPr lang="en-GB" sz="1400"/>
              <a:t>This approach ultimately guided us in selecting Multiple linear regression model  as our preferred model, as it achieved a strong balance between performance and generalization.</a:t>
            </a:r>
            <a:endParaRPr sz="1400"/>
          </a:p>
          <a:p>
            <a:pPr indent="0" lvl="0" marL="0" rtl="0" algn="l">
              <a:spcBef>
                <a:spcPts val="1200"/>
              </a:spcBef>
              <a:spcAft>
                <a:spcPts val="1200"/>
              </a:spcAft>
              <a:buNone/>
            </a:pPr>
            <a:r>
              <a:t/>
            </a:r>
            <a:endParaRPr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2"/>
          <p:cNvSpPr txBox="1"/>
          <p:nvPr>
            <p:ph type="title"/>
          </p:nvPr>
        </p:nvSpPr>
        <p:spPr>
          <a:xfrm>
            <a:off x="819150" y="845600"/>
            <a:ext cx="7505700" cy="49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Cross validation </a:t>
            </a:r>
            <a:endParaRPr b="1" sz="1800"/>
          </a:p>
        </p:txBody>
      </p:sp>
      <p:sp>
        <p:nvSpPr>
          <p:cNvPr id="320" name="Google Shape;320;p42"/>
          <p:cNvSpPr txBox="1"/>
          <p:nvPr>
            <p:ph idx="1" type="body"/>
          </p:nvPr>
        </p:nvSpPr>
        <p:spPr>
          <a:xfrm>
            <a:off x="819150" y="1462450"/>
            <a:ext cx="7651500" cy="2088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1400"/>
              <a:t>Cross-validation is like a “reality check” for our model. Instead of training and testing the model on the same data, we split our data into multiple parts. In this project, we used a method called 5-fold cross-validation. Here’s how it works: we divided the data into five parts. Each time, we trained the model on four parts and tested it on the fifth part. We repeated this five times, switching which part we used for testing each time. By averaging the results, we got a clearer picture of how the model would perform on new, unseen data. This approach helped us avoid overfitting, where the model might look great on training data but struggle on new data. Cross-validation gave us confidence in choosing Multiple linear regression  as the most balanced model for our project, showing that it’s likely to perform consistently well in real-world use.</a:t>
            </a:r>
            <a:endParaRPr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3"/>
          <p:cNvSpPr txBox="1"/>
          <p:nvPr>
            <p:ph type="title"/>
          </p:nvPr>
        </p:nvSpPr>
        <p:spPr>
          <a:xfrm>
            <a:off x="819150" y="301300"/>
            <a:ext cx="7505700" cy="6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t>Predicted Prices Vs actual Prices (Multiple Linear Regression model)</a:t>
            </a:r>
            <a:endParaRPr sz="1400"/>
          </a:p>
        </p:txBody>
      </p:sp>
      <p:sp>
        <p:nvSpPr>
          <p:cNvPr id="326" name="Google Shape;326;p4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27" name="Google Shape;327;p43"/>
          <p:cNvPicPr preferRelativeResize="0"/>
          <p:nvPr/>
        </p:nvPicPr>
        <p:blipFill rotWithShape="1">
          <a:blip r:embed="rId3">
            <a:alphaModFix/>
          </a:blip>
          <a:srcRect b="0" l="0" r="0" t="4825"/>
          <a:stretch/>
        </p:blipFill>
        <p:spPr>
          <a:xfrm>
            <a:off x="1298475" y="991300"/>
            <a:ext cx="5509276" cy="37841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txBox="1"/>
          <p:nvPr>
            <p:ph type="title"/>
          </p:nvPr>
        </p:nvSpPr>
        <p:spPr>
          <a:xfrm>
            <a:off x="819150" y="845600"/>
            <a:ext cx="7505700" cy="55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Multicollinearity, VIF </a:t>
            </a:r>
            <a:endParaRPr b="1" sz="1800"/>
          </a:p>
        </p:txBody>
      </p:sp>
      <p:sp>
        <p:nvSpPr>
          <p:cNvPr id="333" name="Google Shape;333;p44"/>
          <p:cNvSpPr txBox="1"/>
          <p:nvPr>
            <p:ph idx="1" type="body"/>
          </p:nvPr>
        </p:nvSpPr>
        <p:spPr>
          <a:xfrm>
            <a:off x="819150" y="1404200"/>
            <a:ext cx="7505700" cy="303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400"/>
              <a:t>VIF values are all below 2, which suggests that multicollinearity is not a major issue in our model, as VIF values above 5 (or sometimes 10) are typically considered problematic.</a:t>
            </a:r>
            <a:endParaRPr sz="1400"/>
          </a:p>
        </p:txBody>
      </p:sp>
      <p:pic>
        <p:nvPicPr>
          <p:cNvPr id="334" name="Google Shape;334;p44"/>
          <p:cNvPicPr preferRelativeResize="0"/>
          <p:nvPr/>
        </p:nvPicPr>
        <p:blipFill>
          <a:blip r:embed="rId3">
            <a:alphaModFix/>
          </a:blip>
          <a:stretch>
            <a:fillRect/>
          </a:stretch>
        </p:blipFill>
        <p:spPr>
          <a:xfrm>
            <a:off x="745000" y="2213525"/>
            <a:ext cx="7964725" cy="1817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5"/>
          <p:cNvSpPr txBox="1"/>
          <p:nvPr>
            <p:ph type="title"/>
          </p:nvPr>
        </p:nvSpPr>
        <p:spPr>
          <a:xfrm>
            <a:off x="819150" y="845600"/>
            <a:ext cx="7505700" cy="94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800"/>
              <a:t>Reverse Log </a:t>
            </a:r>
            <a:r>
              <a:rPr lang="en-GB" sz="1800"/>
              <a:t>Transformation</a:t>
            </a:r>
            <a:r>
              <a:rPr lang="en-GB" sz="1800"/>
              <a:t> for original price. </a:t>
            </a:r>
            <a:endParaRPr sz="1800"/>
          </a:p>
        </p:txBody>
      </p:sp>
      <p:sp>
        <p:nvSpPr>
          <p:cNvPr id="340" name="Google Shape;340;p45"/>
          <p:cNvSpPr txBox="1"/>
          <p:nvPr>
            <p:ph idx="1" type="body"/>
          </p:nvPr>
        </p:nvSpPr>
        <p:spPr>
          <a:xfrm>
            <a:off x="819150" y="1445750"/>
            <a:ext cx="7605000" cy="143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400"/>
              <a:t>Model Predictions on test data are again </a:t>
            </a:r>
            <a:r>
              <a:rPr lang="en-GB" sz="1400"/>
              <a:t>transformed</a:t>
            </a:r>
            <a:r>
              <a:rPr lang="en-GB" sz="1400"/>
              <a:t> back to its original values as we applied Log transformation on the price, We reversed it by applying </a:t>
            </a:r>
            <a:r>
              <a:rPr lang="en-GB" sz="1400"/>
              <a:t>Exponential</a:t>
            </a:r>
            <a:r>
              <a:rPr lang="en-GB" sz="1400"/>
              <a:t> function on price and then </a:t>
            </a:r>
            <a:r>
              <a:rPr lang="en-GB" sz="1400"/>
              <a:t>calculated</a:t>
            </a:r>
            <a:r>
              <a:rPr lang="en-GB" sz="1400"/>
              <a:t> the RMSE. </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6"/>
          <p:cNvSpPr txBox="1"/>
          <p:nvPr>
            <p:ph type="title"/>
          </p:nvPr>
        </p:nvSpPr>
        <p:spPr>
          <a:xfrm>
            <a:off x="819150" y="641900"/>
            <a:ext cx="7505700" cy="47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Model Performance on Test data</a:t>
            </a:r>
            <a:endParaRPr b="1" sz="1800"/>
          </a:p>
        </p:txBody>
      </p:sp>
      <p:sp>
        <p:nvSpPr>
          <p:cNvPr id="346" name="Google Shape;346;p46"/>
          <p:cNvSpPr txBox="1"/>
          <p:nvPr>
            <p:ph idx="1" type="body"/>
          </p:nvPr>
        </p:nvSpPr>
        <p:spPr>
          <a:xfrm>
            <a:off x="819150" y="1274000"/>
            <a:ext cx="7505700" cy="316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347" name="Google Shape;347;p46"/>
          <p:cNvGraphicFramePr/>
          <p:nvPr/>
        </p:nvGraphicFramePr>
        <p:xfrm>
          <a:off x="922675" y="1274000"/>
          <a:ext cx="3000000" cy="3000000"/>
        </p:xfrm>
        <a:graphic>
          <a:graphicData uri="http://schemas.openxmlformats.org/drawingml/2006/table">
            <a:tbl>
              <a:tblPr>
                <a:noFill/>
                <a:tableStyleId>{8CBF8EC8-797D-4E52-B60B-AC1173024FDA}</a:tableStyleId>
              </a:tblPr>
              <a:tblGrid>
                <a:gridCol w="1956500"/>
                <a:gridCol w="1033675"/>
                <a:gridCol w="1495125"/>
                <a:gridCol w="1495125"/>
              </a:tblGrid>
              <a:tr h="594825">
                <a:tc>
                  <a:txBody>
                    <a:bodyPr/>
                    <a:lstStyle/>
                    <a:p>
                      <a:pPr indent="0" lvl="0" marL="0" rtl="0" algn="l">
                        <a:spcBef>
                          <a:spcPts val="0"/>
                        </a:spcBef>
                        <a:spcAft>
                          <a:spcPts val="0"/>
                        </a:spcAft>
                        <a:buNone/>
                      </a:pPr>
                      <a:r>
                        <a:rPr lang="en-GB"/>
                        <a:t>Model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RMSE</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R-Square</a:t>
                      </a:r>
                      <a:endParaRPr/>
                    </a:p>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Significance Features</a:t>
                      </a:r>
                      <a:endParaRPr/>
                    </a:p>
                  </a:txBody>
                  <a:tcPr marT="91425" marB="91425" marR="91425" marL="91425">
                    <a:lnB cap="flat" cmpd="sng" w="9525">
                      <a:solidFill>
                        <a:srgbClr val="9E9E9E"/>
                      </a:solidFill>
                      <a:prstDash val="solid"/>
                      <a:round/>
                      <a:headEnd len="sm" w="sm" type="none"/>
                      <a:tailEnd len="sm" w="sm" type="none"/>
                    </a:lnB>
                  </a:tcPr>
                </a:tc>
              </a:tr>
              <a:tr h="594825">
                <a:tc>
                  <a:txBody>
                    <a:bodyPr/>
                    <a:lstStyle/>
                    <a:p>
                      <a:pPr indent="0" lvl="0" marL="0" rtl="0" algn="l">
                        <a:spcBef>
                          <a:spcPts val="0"/>
                        </a:spcBef>
                        <a:spcAft>
                          <a:spcPts val="0"/>
                        </a:spcAft>
                        <a:buNone/>
                      </a:pPr>
                      <a:r>
                        <a:rPr lang="en-GB"/>
                        <a:t>Multiple Linear Regression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947,670.2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0.567</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All Features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9875">
                <a:tc>
                  <a:txBody>
                    <a:bodyPr/>
                    <a:lstStyle/>
                    <a:p>
                      <a:pPr indent="0" lvl="0" marL="0" rtl="0" algn="l">
                        <a:spcBef>
                          <a:spcPts val="0"/>
                        </a:spcBef>
                        <a:spcAft>
                          <a:spcPts val="0"/>
                        </a:spcAft>
                        <a:buNone/>
                      </a:pPr>
                      <a:r>
                        <a:rPr lang="en-GB"/>
                        <a:t>Ridge Regression</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943,550.9</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0.564</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All Features</a:t>
                      </a:r>
                      <a:endParaRPr/>
                    </a:p>
                  </a:txBody>
                  <a:tcPr marT="91425" marB="91425" marR="91425" marL="91425">
                    <a:lnT cap="flat" cmpd="sng" w="9525">
                      <a:solidFill>
                        <a:srgbClr val="9E9E9E"/>
                      </a:solidFill>
                      <a:prstDash val="solid"/>
                      <a:round/>
                      <a:headEnd len="sm" w="sm" type="none"/>
                      <a:tailEnd len="sm" w="sm" type="none"/>
                    </a:lnT>
                  </a:tcPr>
                </a:tc>
              </a:tr>
              <a:tr h="429875">
                <a:tc>
                  <a:txBody>
                    <a:bodyPr/>
                    <a:lstStyle/>
                    <a:p>
                      <a:pPr indent="0" lvl="0" marL="0" rtl="0" algn="l">
                        <a:spcBef>
                          <a:spcPts val="0"/>
                        </a:spcBef>
                        <a:spcAft>
                          <a:spcPts val="0"/>
                        </a:spcAft>
                        <a:buNone/>
                      </a:pPr>
                      <a:r>
                        <a:rPr lang="en-GB"/>
                        <a:t>Lasso Regression</a:t>
                      </a:r>
                      <a:endParaRPr/>
                    </a:p>
                  </a:txBody>
                  <a:tcPr marT="91425" marB="91425" marR="91425" marL="91425"/>
                </a:tc>
                <a:tc>
                  <a:txBody>
                    <a:bodyPr/>
                    <a:lstStyle/>
                    <a:p>
                      <a:pPr indent="0" lvl="0" marL="0" rtl="0" algn="l">
                        <a:spcBef>
                          <a:spcPts val="0"/>
                        </a:spcBef>
                        <a:spcAft>
                          <a:spcPts val="0"/>
                        </a:spcAft>
                        <a:buNone/>
                      </a:pPr>
                      <a:r>
                        <a:rPr lang="en-GB"/>
                        <a:t>946,318.7</a:t>
                      </a:r>
                      <a:endParaRPr/>
                    </a:p>
                  </a:txBody>
                  <a:tcPr marT="91425" marB="91425" marR="91425" marL="91425"/>
                </a:tc>
                <a:tc>
                  <a:txBody>
                    <a:bodyPr/>
                    <a:lstStyle/>
                    <a:p>
                      <a:pPr indent="0" lvl="0" marL="0" rtl="0" algn="l">
                        <a:spcBef>
                          <a:spcPts val="0"/>
                        </a:spcBef>
                        <a:spcAft>
                          <a:spcPts val="0"/>
                        </a:spcAft>
                        <a:buNone/>
                      </a:pPr>
                      <a:r>
                        <a:rPr lang="en-GB"/>
                        <a:t>0.567</a:t>
                      </a:r>
                      <a:endParaRPr/>
                    </a:p>
                  </a:txBody>
                  <a:tcPr marT="91425" marB="91425" marR="91425" marL="91425"/>
                </a:tc>
                <a:tc>
                  <a:txBody>
                    <a:bodyPr/>
                    <a:lstStyle/>
                    <a:p>
                      <a:pPr indent="0" lvl="0" marL="0" rtl="0" algn="l">
                        <a:spcBef>
                          <a:spcPts val="0"/>
                        </a:spcBef>
                        <a:spcAft>
                          <a:spcPts val="0"/>
                        </a:spcAft>
                        <a:buNone/>
                      </a:pPr>
                      <a:r>
                        <a:rPr lang="en-GB"/>
                        <a:t>All Features</a:t>
                      </a:r>
                      <a:endParaRPr/>
                    </a:p>
                  </a:txBody>
                  <a:tcPr marT="91425" marB="91425" marR="91425" marL="91425"/>
                </a:tc>
              </a:tr>
              <a:tr h="464975">
                <a:tc>
                  <a:txBody>
                    <a:bodyPr/>
                    <a:lstStyle/>
                    <a:p>
                      <a:pPr indent="0" lvl="0" marL="0" rtl="0" algn="l">
                        <a:spcBef>
                          <a:spcPts val="0"/>
                        </a:spcBef>
                        <a:spcAft>
                          <a:spcPts val="0"/>
                        </a:spcAft>
                        <a:buNone/>
                      </a:pPr>
                      <a:r>
                        <a:rPr lang="en-GB"/>
                        <a:t>Quadratic Regression</a:t>
                      </a:r>
                      <a:endParaRPr/>
                    </a:p>
                  </a:txBody>
                  <a:tcPr marT="91425" marB="91425" marR="91425" marL="91425"/>
                </a:tc>
                <a:tc>
                  <a:txBody>
                    <a:bodyPr/>
                    <a:lstStyle/>
                    <a:p>
                      <a:pPr indent="0" lvl="0" marL="0" rtl="0" algn="l">
                        <a:spcBef>
                          <a:spcPts val="0"/>
                        </a:spcBef>
                        <a:spcAft>
                          <a:spcPts val="0"/>
                        </a:spcAft>
                        <a:buNone/>
                      </a:pPr>
                      <a:r>
                        <a:rPr lang="en-GB"/>
                        <a:t>1,036,016</a:t>
                      </a:r>
                      <a:endParaRPr/>
                    </a:p>
                  </a:txBody>
                  <a:tcPr marT="91425" marB="91425" marR="91425" marL="91425"/>
                </a:tc>
                <a:tc>
                  <a:txBody>
                    <a:bodyPr/>
                    <a:lstStyle/>
                    <a:p>
                      <a:pPr indent="0" lvl="0" marL="0" rtl="0" algn="l">
                        <a:spcBef>
                          <a:spcPts val="0"/>
                        </a:spcBef>
                        <a:spcAft>
                          <a:spcPts val="0"/>
                        </a:spcAft>
                        <a:buNone/>
                      </a:pPr>
                      <a:r>
                        <a:rPr lang="en-GB"/>
                        <a:t>0.470</a:t>
                      </a:r>
                      <a:endParaRPr/>
                    </a:p>
                  </a:txBody>
                  <a:tcPr marT="91425" marB="91425" marR="91425" marL="91425"/>
                </a:tc>
                <a:tc>
                  <a:txBody>
                    <a:bodyPr/>
                    <a:lstStyle/>
                    <a:p>
                      <a:pPr indent="0" lvl="0" marL="0" rtl="0" algn="l">
                        <a:spcBef>
                          <a:spcPts val="0"/>
                        </a:spcBef>
                        <a:spcAft>
                          <a:spcPts val="0"/>
                        </a:spcAft>
                        <a:buNone/>
                      </a:pPr>
                      <a:r>
                        <a:rPr lang="en-GB"/>
                        <a:t>Except Stories</a:t>
                      </a:r>
                      <a:endParaRPr/>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7"/>
          <p:cNvSpPr txBox="1"/>
          <p:nvPr>
            <p:ph type="title"/>
          </p:nvPr>
        </p:nvSpPr>
        <p:spPr>
          <a:xfrm>
            <a:off x="593125" y="342900"/>
            <a:ext cx="7731600" cy="61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                                      </a:t>
            </a:r>
            <a:r>
              <a:rPr b="1" lang="en-GB" sz="1800"/>
              <a:t>Residual Analysis </a:t>
            </a:r>
            <a:endParaRPr b="1" sz="1800"/>
          </a:p>
        </p:txBody>
      </p:sp>
      <p:sp>
        <p:nvSpPr>
          <p:cNvPr id="353" name="Google Shape;353;p47"/>
          <p:cNvSpPr txBox="1"/>
          <p:nvPr>
            <p:ph idx="1" type="body"/>
          </p:nvPr>
        </p:nvSpPr>
        <p:spPr>
          <a:xfrm>
            <a:off x="352175" y="787750"/>
            <a:ext cx="8424300" cy="41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Residual analysis is crucial in regression modeling because it helps us assess how well the model fits the data and  whether the model holds its key assumptions, the four main assumptions are : </a:t>
            </a:r>
            <a:br>
              <a:rPr lang="en-GB" sz="1400"/>
            </a:br>
            <a:r>
              <a:rPr b="1" lang="en-GB" sz="1400"/>
              <a:t>1. </a:t>
            </a:r>
            <a:r>
              <a:rPr b="1" lang="en-GB" sz="1400"/>
              <a:t>Mean of Residuals is Zero:</a:t>
            </a:r>
            <a:endParaRPr b="1" sz="1400"/>
          </a:p>
          <a:p>
            <a:pPr indent="0" lvl="0" marL="457200" rtl="0" algn="l">
              <a:spcBef>
                <a:spcPts val="1200"/>
              </a:spcBef>
              <a:spcAft>
                <a:spcPts val="0"/>
              </a:spcAft>
              <a:buNone/>
            </a:pPr>
            <a:r>
              <a:rPr b="1" lang="en-GB" sz="1400">
                <a:solidFill>
                  <a:srgbClr val="000000"/>
                </a:solidFill>
                <a:latin typeface="Arial"/>
                <a:ea typeface="Arial"/>
                <a:cs typeface="Arial"/>
                <a:sym typeface="Arial"/>
              </a:rPr>
              <a:t>Assumption: </a:t>
            </a:r>
            <a:r>
              <a:rPr lang="en-GB" sz="1400">
                <a:solidFill>
                  <a:srgbClr val="000000"/>
                </a:solidFill>
                <a:latin typeface="Arial"/>
                <a:ea typeface="Arial"/>
                <a:cs typeface="Arial"/>
                <a:sym typeface="Arial"/>
              </a:rPr>
              <a:t>The average value of the errors should be zero.</a:t>
            </a:r>
            <a:endParaRPr sz="1400"/>
          </a:p>
          <a:p>
            <a:pPr indent="0" lvl="0" marL="0" rtl="0" algn="l">
              <a:spcBef>
                <a:spcPts val="1200"/>
              </a:spcBef>
              <a:spcAft>
                <a:spcPts val="0"/>
              </a:spcAft>
              <a:buNone/>
            </a:pPr>
            <a:r>
              <a:rPr b="1" lang="en-GB" sz="1400"/>
              <a:t>2. Normal Distribution of Residuals</a:t>
            </a:r>
            <a:endParaRPr b="1" sz="1400"/>
          </a:p>
          <a:p>
            <a:pPr indent="0" lvl="0" marL="457200" rtl="0" algn="l">
              <a:spcBef>
                <a:spcPts val="1200"/>
              </a:spcBef>
              <a:spcAft>
                <a:spcPts val="0"/>
              </a:spcAft>
              <a:buNone/>
            </a:pPr>
            <a:r>
              <a:rPr b="1" lang="en-GB" sz="1400">
                <a:solidFill>
                  <a:srgbClr val="000000"/>
                </a:solidFill>
                <a:latin typeface="Arial"/>
                <a:ea typeface="Arial"/>
                <a:cs typeface="Arial"/>
                <a:sym typeface="Arial"/>
              </a:rPr>
              <a:t>Assumption</a:t>
            </a:r>
            <a:r>
              <a:rPr lang="en-GB" sz="1400">
                <a:solidFill>
                  <a:srgbClr val="000000"/>
                </a:solidFill>
                <a:latin typeface="Arial"/>
                <a:ea typeface="Arial"/>
                <a:cs typeface="Arial"/>
                <a:sym typeface="Arial"/>
              </a:rPr>
              <a:t>: The residuals are normally distributed.</a:t>
            </a:r>
            <a:endParaRPr sz="1400"/>
          </a:p>
          <a:p>
            <a:pPr indent="0" lvl="0" marL="0" rtl="0" algn="l">
              <a:spcBef>
                <a:spcPts val="1200"/>
              </a:spcBef>
              <a:spcAft>
                <a:spcPts val="0"/>
              </a:spcAft>
              <a:buNone/>
            </a:pPr>
            <a:r>
              <a:rPr lang="en-GB" sz="1400"/>
              <a:t>3</a:t>
            </a:r>
            <a:r>
              <a:rPr b="1" lang="en-GB" sz="1400"/>
              <a:t>. Constant Standard Deviation</a:t>
            </a:r>
            <a:r>
              <a:rPr lang="en-GB" sz="1400"/>
              <a:t> (</a:t>
            </a:r>
            <a:r>
              <a:rPr b="1" lang="en-GB" sz="1400"/>
              <a:t>Homoscedasticity</a:t>
            </a:r>
            <a:r>
              <a:rPr lang="en-GB" sz="1400"/>
              <a:t>)</a:t>
            </a:r>
            <a:endParaRPr sz="1400"/>
          </a:p>
          <a:p>
            <a:pPr indent="0" lvl="0" marL="457200" rtl="0" algn="l">
              <a:spcBef>
                <a:spcPts val="1200"/>
              </a:spcBef>
              <a:spcAft>
                <a:spcPts val="0"/>
              </a:spcAft>
              <a:buNone/>
            </a:pPr>
            <a:r>
              <a:rPr b="1" lang="en-GB" sz="1400">
                <a:solidFill>
                  <a:srgbClr val="000000"/>
                </a:solidFill>
                <a:latin typeface="Arial"/>
                <a:ea typeface="Arial"/>
                <a:cs typeface="Arial"/>
                <a:sym typeface="Arial"/>
              </a:rPr>
              <a:t>Assumption</a:t>
            </a:r>
            <a:r>
              <a:rPr lang="en-GB" sz="1400">
                <a:solidFill>
                  <a:srgbClr val="000000"/>
                </a:solidFill>
                <a:latin typeface="Arial"/>
                <a:ea typeface="Arial"/>
                <a:cs typeface="Arial"/>
                <a:sym typeface="Arial"/>
              </a:rPr>
              <a:t>: The residuals have a constant variance across all levels of the independent variables.</a:t>
            </a:r>
            <a:endParaRPr sz="1400"/>
          </a:p>
          <a:p>
            <a:pPr indent="0" lvl="0" marL="0" rtl="0" algn="l">
              <a:spcBef>
                <a:spcPts val="1200"/>
              </a:spcBef>
              <a:spcAft>
                <a:spcPts val="0"/>
              </a:spcAft>
              <a:buNone/>
            </a:pPr>
            <a:r>
              <a:rPr b="1" lang="en-GB" sz="1400"/>
              <a:t>4. Independence of Residuals:</a:t>
            </a:r>
            <a:endParaRPr b="1" sz="1400"/>
          </a:p>
          <a:p>
            <a:pPr indent="0" lvl="0" marL="457200" rtl="0" algn="l">
              <a:spcBef>
                <a:spcPts val="1200"/>
              </a:spcBef>
              <a:spcAft>
                <a:spcPts val="1200"/>
              </a:spcAft>
              <a:buNone/>
            </a:pPr>
            <a:r>
              <a:rPr b="1" lang="en-GB" sz="1400">
                <a:solidFill>
                  <a:srgbClr val="000000"/>
                </a:solidFill>
                <a:latin typeface="Arial"/>
                <a:ea typeface="Arial"/>
                <a:cs typeface="Arial"/>
                <a:sym typeface="Arial"/>
              </a:rPr>
              <a:t>Assumption</a:t>
            </a:r>
            <a:r>
              <a:rPr lang="en-GB" sz="1400">
                <a:solidFill>
                  <a:srgbClr val="000000"/>
                </a:solidFill>
                <a:latin typeface="Arial"/>
                <a:ea typeface="Arial"/>
                <a:cs typeface="Arial"/>
                <a:sym typeface="Arial"/>
              </a:rPr>
              <a:t>: Residuals are independent of each other, meaning that the error for one observation doesn’t depend on or correlate with the error on other.</a:t>
            </a:r>
            <a:endParaRPr sz="1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658000" y="3790425"/>
            <a:ext cx="8016300" cy="105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rgbClr val="0E0E0E"/>
                </a:solidFill>
              </a:rPr>
              <a:t>Therefore this plot shows that the multiple linear regression model fits the data fairly well, with residuals mostly centered around zero and randomly scattered. The assumptions of </a:t>
            </a:r>
            <a:r>
              <a:rPr b="1" lang="en-GB" sz="1400">
                <a:solidFill>
                  <a:srgbClr val="0E0E0E"/>
                </a:solidFill>
              </a:rPr>
              <a:t>linearity</a:t>
            </a:r>
            <a:r>
              <a:rPr lang="en-GB" sz="1400">
                <a:solidFill>
                  <a:srgbClr val="0E0E0E"/>
                </a:solidFill>
              </a:rPr>
              <a:t> and </a:t>
            </a:r>
            <a:r>
              <a:rPr b="1" lang="en-GB" sz="1400">
                <a:solidFill>
                  <a:srgbClr val="0E0E0E"/>
                </a:solidFill>
              </a:rPr>
              <a:t>homoscedasticity</a:t>
            </a:r>
            <a:r>
              <a:rPr lang="en-GB" sz="1400">
                <a:solidFill>
                  <a:srgbClr val="0E0E0E"/>
                </a:solidFill>
              </a:rPr>
              <a:t> seem reasonably </a:t>
            </a:r>
            <a:r>
              <a:rPr lang="en-GB" sz="1400">
                <a:solidFill>
                  <a:srgbClr val="0E0E0E"/>
                </a:solidFill>
              </a:rPr>
              <a:t>satisfied</a:t>
            </a:r>
            <a:r>
              <a:rPr lang="en-GB" sz="1400">
                <a:solidFill>
                  <a:srgbClr val="0E0E0E"/>
                </a:solidFill>
              </a:rPr>
              <a:t>. </a:t>
            </a:r>
            <a:endParaRPr sz="1400">
              <a:solidFill>
                <a:srgbClr val="0E0E0E"/>
              </a:solidFill>
            </a:endParaRPr>
          </a:p>
        </p:txBody>
      </p:sp>
      <p:sp>
        <p:nvSpPr>
          <p:cNvPr id="359" name="Google Shape;359;p48"/>
          <p:cNvSpPr txBox="1"/>
          <p:nvPr>
            <p:ph idx="1" type="body"/>
          </p:nvPr>
        </p:nvSpPr>
        <p:spPr>
          <a:xfrm>
            <a:off x="819150" y="1990725"/>
            <a:ext cx="7505700" cy="1762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0" name="Google Shape;360;p48"/>
          <p:cNvPicPr preferRelativeResize="0"/>
          <p:nvPr/>
        </p:nvPicPr>
        <p:blipFill rotWithShape="1">
          <a:blip r:embed="rId3">
            <a:alphaModFix/>
          </a:blip>
          <a:srcRect b="0" l="0" r="0" t="7868"/>
          <a:stretch/>
        </p:blipFill>
        <p:spPr>
          <a:xfrm>
            <a:off x="1605337" y="359075"/>
            <a:ext cx="5475089" cy="33941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9"/>
          <p:cNvSpPr txBox="1"/>
          <p:nvPr>
            <p:ph type="title"/>
          </p:nvPr>
        </p:nvSpPr>
        <p:spPr>
          <a:xfrm>
            <a:off x="958175" y="3679225"/>
            <a:ext cx="7505700" cy="11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rgbClr val="000000"/>
                </a:solidFill>
              </a:rPr>
              <a:t>Therefore, The Q-Q plot shows that the residuals of the Multiple linear regression model are approximately </a:t>
            </a:r>
            <a:r>
              <a:rPr b="1" lang="en-GB" sz="1400">
                <a:solidFill>
                  <a:srgbClr val="000000"/>
                </a:solidFill>
              </a:rPr>
              <a:t>normally distributed</a:t>
            </a:r>
            <a:r>
              <a:rPr lang="en-GB" sz="1400">
                <a:solidFill>
                  <a:srgbClr val="000000"/>
                </a:solidFill>
              </a:rPr>
              <a:t>, as most points closely follow the theoretical quantile line. </a:t>
            </a:r>
            <a:endParaRPr sz="1400">
              <a:solidFill>
                <a:srgbClr val="000000"/>
              </a:solidFill>
            </a:endParaRPr>
          </a:p>
        </p:txBody>
      </p:sp>
      <p:pic>
        <p:nvPicPr>
          <p:cNvPr id="366" name="Google Shape;366;p49"/>
          <p:cNvPicPr preferRelativeResize="0"/>
          <p:nvPr/>
        </p:nvPicPr>
        <p:blipFill>
          <a:blip r:embed="rId3">
            <a:alphaModFix/>
          </a:blip>
          <a:stretch>
            <a:fillRect/>
          </a:stretch>
        </p:blipFill>
        <p:spPr>
          <a:xfrm>
            <a:off x="1862775" y="270825"/>
            <a:ext cx="5211324" cy="3297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ph type="title"/>
          </p:nvPr>
        </p:nvSpPr>
        <p:spPr>
          <a:xfrm>
            <a:off x="819150" y="342900"/>
            <a:ext cx="7505700" cy="4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1800"/>
              <a:t>ANOVA: Analysis of Variance</a:t>
            </a:r>
            <a:endParaRPr b="1" sz="1800"/>
          </a:p>
        </p:txBody>
      </p:sp>
      <p:sp>
        <p:nvSpPr>
          <p:cNvPr id="372" name="Google Shape;372;p50"/>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3" name="Google Shape;373;p50"/>
          <p:cNvPicPr preferRelativeResize="0"/>
          <p:nvPr/>
        </p:nvPicPr>
        <p:blipFill rotWithShape="1">
          <a:blip r:embed="rId3">
            <a:alphaModFix/>
          </a:blip>
          <a:srcRect b="0" l="-1033" r="3501" t="0"/>
          <a:stretch/>
        </p:blipFill>
        <p:spPr>
          <a:xfrm>
            <a:off x="367075" y="1157475"/>
            <a:ext cx="4782226" cy="3480901"/>
          </a:xfrm>
          <a:prstGeom prst="rect">
            <a:avLst/>
          </a:prstGeom>
          <a:noFill/>
          <a:ln>
            <a:noFill/>
          </a:ln>
        </p:spPr>
      </p:pic>
      <p:sp>
        <p:nvSpPr>
          <p:cNvPr id="374" name="Google Shape;374;p50"/>
          <p:cNvSpPr txBox="1"/>
          <p:nvPr>
            <p:ph idx="2" type="body"/>
          </p:nvPr>
        </p:nvSpPr>
        <p:spPr>
          <a:xfrm>
            <a:off x="5199625" y="889675"/>
            <a:ext cx="3686100" cy="372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rgbClr val="000000"/>
                </a:solidFill>
                <a:latin typeface="Arial"/>
                <a:ea typeface="Arial"/>
                <a:cs typeface="Arial"/>
                <a:sym typeface="Arial"/>
              </a:rPr>
              <a:t>Significant Predictors</a:t>
            </a:r>
            <a:r>
              <a:rPr lang="en-GB" sz="1200">
                <a:solidFill>
                  <a:srgbClr val="000000"/>
                </a:solidFill>
                <a:latin typeface="Arial"/>
                <a:ea typeface="Arial"/>
                <a:cs typeface="Arial"/>
                <a:sym typeface="Arial"/>
              </a:rPr>
              <a:t>: Key variables like area, bedrooms, and bathrooms have p-values well below 0.05, indicating strong significance in explaining house price variance, with area being the most impactful.</a:t>
            </a:r>
            <a:endParaRPr sz="1200">
              <a:solidFill>
                <a:srgbClr val="000000"/>
              </a:solidFill>
              <a:latin typeface="Arial"/>
              <a:ea typeface="Arial"/>
              <a:cs typeface="Arial"/>
              <a:sym typeface="Arial"/>
            </a:endParaRPr>
          </a:p>
          <a:p>
            <a:pPr indent="0" lvl="0" marL="0" rtl="0" algn="l">
              <a:spcBef>
                <a:spcPts val="1200"/>
              </a:spcBef>
              <a:spcAft>
                <a:spcPts val="0"/>
              </a:spcAft>
              <a:buNone/>
            </a:pPr>
            <a:r>
              <a:rPr b="1" lang="en-GB" sz="1200">
                <a:solidFill>
                  <a:srgbClr val="000000"/>
                </a:solidFill>
                <a:latin typeface="Arial"/>
                <a:ea typeface="Arial"/>
                <a:cs typeface="Arial"/>
                <a:sym typeface="Arial"/>
              </a:rPr>
              <a:t>Less Significant Predictors</a:t>
            </a:r>
            <a:r>
              <a:rPr lang="en-GB" sz="1200">
                <a:solidFill>
                  <a:srgbClr val="000000"/>
                </a:solidFill>
                <a:latin typeface="Arial"/>
                <a:ea typeface="Arial"/>
                <a:cs typeface="Arial"/>
                <a:sym typeface="Arial"/>
              </a:rPr>
              <a:t>: Hotwaterheating and parking are statistically significant but less impactful, with p-values between 0.01 and 0.05.</a:t>
            </a:r>
            <a:endParaRPr sz="1200">
              <a:solidFill>
                <a:srgbClr val="000000"/>
              </a:solidFill>
              <a:latin typeface="Arial"/>
              <a:ea typeface="Arial"/>
              <a:cs typeface="Arial"/>
              <a:sym typeface="Arial"/>
            </a:endParaRPr>
          </a:p>
          <a:p>
            <a:pPr indent="0" lvl="0" marL="0" rtl="0" algn="l">
              <a:spcBef>
                <a:spcPts val="1200"/>
              </a:spcBef>
              <a:spcAft>
                <a:spcPts val="1200"/>
              </a:spcAft>
              <a:buNone/>
            </a:pPr>
            <a:r>
              <a:rPr b="1" lang="en-GB" sz="1200">
                <a:solidFill>
                  <a:srgbClr val="000000"/>
                </a:solidFill>
                <a:latin typeface="Arial"/>
                <a:ea typeface="Arial"/>
                <a:cs typeface="Arial"/>
                <a:sym typeface="Arial"/>
              </a:rPr>
              <a:t>Sum of Squares &amp; F-values</a:t>
            </a:r>
            <a:r>
              <a:rPr lang="en-GB" sz="1200">
                <a:solidFill>
                  <a:srgbClr val="000000"/>
                </a:solidFill>
                <a:latin typeface="Arial"/>
                <a:ea typeface="Arial"/>
                <a:cs typeface="Arial"/>
                <a:sym typeface="Arial"/>
              </a:rPr>
              <a:t>: The Sum of Squares indicates the proportion of variance explained by each predictor, with area being the largest, while high F-values for predictors like area demonstrate their strong impact on house prices.</a:t>
            </a:r>
            <a:endParaRPr sz="1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CONCLUSION</a:t>
            </a:r>
            <a:r>
              <a:rPr b="1" lang="en-GB" sz="1800"/>
              <a:t> </a:t>
            </a:r>
            <a:endParaRPr b="1" sz="1800"/>
          </a:p>
        </p:txBody>
      </p:sp>
      <p:sp>
        <p:nvSpPr>
          <p:cNvPr id="380" name="Google Shape;380;p51"/>
          <p:cNvSpPr txBox="1"/>
          <p:nvPr>
            <p:ph idx="1" type="body"/>
          </p:nvPr>
        </p:nvSpPr>
        <p:spPr>
          <a:xfrm>
            <a:off x="819150" y="1496775"/>
            <a:ext cx="7505700" cy="2942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GB" sz="1400"/>
              <a:t>Finally, we have completed this regression analysis using the data, achieving fairly good performance from the multiple linear regression model. Most of the features we used are significant, and key model assumptions, such as homoscedasticity, normality, and multicollinearity, are met.</a:t>
            </a:r>
            <a:endParaRPr sz="1400"/>
          </a:p>
          <a:p>
            <a:pPr indent="0" lvl="0" marL="0" rtl="0" algn="l">
              <a:spcBef>
                <a:spcPts val="1200"/>
              </a:spcBef>
              <a:spcAft>
                <a:spcPts val="0"/>
              </a:spcAft>
              <a:buNone/>
            </a:pPr>
            <a:r>
              <a:rPr lang="en-GB" sz="1400"/>
              <a:t>The future scope of this project could include expanding the dataset. With more data points, we could achieve even more accurate results. Additionally, we could explore using different algorithms to further improve performance.</a:t>
            </a:r>
            <a:endParaRPr sz="1400"/>
          </a:p>
          <a:p>
            <a:pPr indent="0" lvl="0" marL="0" rtl="0" algn="l">
              <a:spcBef>
                <a:spcPts val="1200"/>
              </a:spcBef>
              <a:spcAft>
                <a:spcPts val="1200"/>
              </a:spcAft>
              <a:buNone/>
            </a:pPr>
            <a:r>
              <a:t/>
            </a:r>
            <a:endParaRPr sz="14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t>REFERENCES</a:t>
            </a:r>
            <a:endParaRPr b="1" sz="1800"/>
          </a:p>
        </p:txBody>
      </p:sp>
      <p:sp>
        <p:nvSpPr>
          <p:cNvPr id="386" name="Google Shape;386;p52"/>
          <p:cNvSpPr txBox="1"/>
          <p:nvPr>
            <p:ph idx="1" type="body"/>
          </p:nvPr>
        </p:nvSpPr>
        <p:spPr>
          <a:xfrm>
            <a:off x="819150" y="1435625"/>
            <a:ext cx="7505700" cy="3003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GB" sz="1400"/>
              <a:t>C. R. Madhuri, G. Anuradha and M. V. Pujitha, "House Price Prediction Using Regression Techniques: A Comparative Study," 2019 International Conference on Smart Structures and Systems (ICSSS), Chennai, India, 2019, pp. 1-5, doi: 10.1109/ICSSS.2019.8882834. </a:t>
            </a:r>
            <a:endParaRPr sz="1400"/>
          </a:p>
          <a:p>
            <a:pPr indent="-317500" lvl="0" marL="457200" rtl="0" algn="l">
              <a:spcBef>
                <a:spcPts val="0"/>
              </a:spcBef>
              <a:spcAft>
                <a:spcPts val="0"/>
              </a:spcAft>
              <a:buSzPts val="1400"/>
              <a:buChar char="●"/>
            </a:pPr>
            <a:r>
              <a:rPr lang="en-GB" sz="1400"/>
              <a:t>M. Sharma, R. Chauhan, S. Devliyal and K. R. Chythanya, "House Price Prediction Using Linear and Lasso Regression," 2024 3rd International Conference for Innovation in Technology (INOCON), Bangalore, India, 2024, pp. 1-5, doi: 10.1109/INOCON60754.2024.10511592.</a:t>
            </a:r>
            <a:endParaRPr sz="1400"/>
          </a:p>
          <a:p>
            <a:pPr indent="-317500" lvl="0" marL="457200" rtl="0" algn="l">
              <a:spcBef>
                <a:spcPts val="0"/>
              </a:spcBef>
              <a:spcAft>
                <a:spcPts val="0"/>
              </a:spcAft>
              <a:buSzPts val="1400"/>
              <a:buChar char="●"/>
            </a:pPr>
            <a:r>
              <a:rPr lang="en-GB" sz="1400"/>
              <a:t>https://www.kaggle.com/code/darshandungrani/house-price-prediction-with-ridge-regression</a:t>
            </a:r>
            <a:endParaRPr sz="1400"/>
          </a:p>
          <a:p>
            <a:pPr indent="0" lvl="0" marL="457200" rtl="0" algn="l">
              <a:spcBef>
                <a:spcPts val="1200"/>
              </a:spcBef>
              <a:spcAft>
                <a:spcPts val="1200"/>
              </a:spcAft>
              <a:buNone/>
            </a:pPr>
            <a:r>
              <a:t/>
            </a:r>
            <a:endParaRPr sz="1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3"/>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                   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